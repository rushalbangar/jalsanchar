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CHALLENGE &amp; TRACK IDENTIFICATION</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01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Team identity</a:t>
            </a:r>
          </a:p>
        </p:txBody>
      </p:sp>
      <p:sp>
        <p:nvSpPr>
          <p:cNvPr id="12" name="TextBox 11"/>
          <p:cNvSpPr txBox="1"/>
          <p:nvPr/>
        </p:nvSpPr>
        <p:spPr>
          <a:xfrm>
            <a:off x="868680" y="1828800"/>
            <a:ext cx="4846320" cy="4069080"/>
          </a:xfrm>
          <a:prstGeom prst="rect">
            <a:avLst/>
          </a:prstGeom>
          <a:noFill/>
        </p:spPr>
        <p:txBody>
          <a:bodyPr wrap="square">
            <a:spAutoFit/>
          </a:bodyPr>
          <a:lstStyle/>
          <a:p>
            <a:pPr>
              <a:spcAft>
                <a:spcPts val="1000"/>
              </a:spcAft>
              <a:defRPr sz="1400" b="1">
                <a:solidFill>
                  <a:srgbClr val="0F172A"/>
                </a:solidFill>
              </a:defRPr>
            </a:pPr>
            <a:r>
              <a:t>Team name: Vision 2030</a:t>
            </a:r>
          </a:p>
          <a:p>
            <a:pPr>
              <a:spcAft>
                <a:spcPts val="1000"/>
              </a:spcAft>
              <a:defRPr sz="1400" b="1">
                <a:solidFill>
                  <a:srgbClr val="0F172A"/>
                </a:solidFill>
              </a:defRPr>
            </a:pPr>
            <a:r>
              <a:t>Team ID: 8E1986</a:t>
            </a:r>
          </a:p>
          <a:p>
            <a:pPr>
              <a:spcAft>
                <a:spcPts val="1800"/>
              </a:spcAft>
              <a:defRPr sz="1300">
                <a:solidFill>
                  <a:srgbClr val="0F172A"/>
                </a:solidFill>
              </a:defRPr>
            </a:pPr>
            <a:r>
              <a:t>Institution: Matoshri College Of Engineering and Research Centre, Nashik</a:t>
            </a:r>
          </a:p>
          <a:p>
            <a:pPr>
              <a:spcAft>
                <a:spcPts val="800"/>
              </a:spcAft>
              <a:defRPr sz="1500" b="1">
                <a:solidFill>
                  <a:srgbClr val="148F77"/>
                </a:solidFill>
              </a:defRPr>
            </a:pPr>
            <a:r>
              <a:t>Solution Name: JalSanchar (जलसंचार)</a:t>
            </a:r>
          </a:p>
          <a:p>
            <a:pPr>
              <a:spcAft>
                <a:spcPts val="1400"/>
              </a:spcAft>
              <a:defRPr sz="1100">
                <a:solidFill>
                  <a:srgbClr val="475569"/>
                </a:solidFill>
              </a:defRPr>
            </a:pPr>
            <a:r>
              <a:t>Subtitle: Sovereign Climate-Resilient Drought Supply Chain &amp; Cryptographic Escrow Engine</a:t>
            </a:r>
          </a:p>
          <a:p>
            <a:pPr>
              <a:defRPr sz="1100">
                <a:solidFill>
                  <a:srgbClr val="475569"/>
                </a:solidFill>
              </a:defRPr>
            </a:pPr>
            <a:r>
              <a:t>Primary Sector: Ahilyanagar &amp; Sinnar Taluka (Nashik District, Maharashtra)</a:t>
            </a:r>
          </a:p>
        </p:txBody>
      </p:sp>
      <p:sp>
        <p:nvSpPr>
          <p:cNvPr id="13" name="Rounded Rectangle 12"/>
          <p:cNvSpPr/>
          <p:nvPr/>
        </p:nvSpPr>
        <p:spPr>
          <a:xfrm>
            <a:off x="6217920" y="1188720"/>
            <a:ext cx="539496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448056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Track &amp; problem statement</a:t>
            </a:r>
          </a:p>
        </p:txBody>
      </p:sp>
      <p:sp>
        <p:nvSpPr>
          <p:cNvPr id="16" name="TextBox 15"/>
          <p:cNvSpPr txBox="1"/>
          <p:nvPr/>
        </p:nvSpPr>
        <p:spPr>
          <a:xfrm>
            <a:off x="6537960" y="1828800"/>
            <a:ext cx="4937760" cy="4069080"/>
          </a:xfrm>
          <a:prstGeom prst="rect">
            <a:avLst/>
          </a:prstGeom>
          <a:noFill/>
        </p:spPr>
        <p:txBody>
          <a:bodyPr wrap="square">
            <a:spAutoFit/>
          </a:bodyPr>
          <a:lstStyle/>
          <a:p>
            <a:pPr>
              <a:spcAft>
                <a:spcPts val="400"/>
              </a:spcAft>
              <a:defRPr sz="1300" b="1">
                <a:solidFill>
                  <a:srgbClr val="0F172A"/>
                </a:solidFill>
              </a:defRPr>
            </a:pPr>
            <a:r>
              <a:t>Track:</a:t>
            </a:r>
          </a:p>
          <a:p>
            <a:pPr>
              <a:spcAft>
                <a:spcPts val="1400"/>
              </a:spcAft>
              <a:defRPr sz="1300" b="1">
                <a:solidFill>
                  <a:srgbClr val="148F77"/>
                </a:solidFill>
              </a:defRPr>
            </a:pPr>
            <a:r>
              <a:t>[X] Smart Operations &amp; Sustainable Supply Chain</a:t>
            </a:r>
          </a:p>
          <a:p>
            <a:pPr>
              <a:spcAft>
                <a:spcPts val="200"/>
              </a:spcAft>
              <a:defRPr sz="1200" b="1">
                <a:solidFill>
                  <a:srgbClr val="0F172A"/>
                </a:solidFill>
              </a:defRPr>
            </a:pPr>
            <a:r>
              <a:t>Problem statement ID / title:</a:t>
            </a:r>
          </a:p>
          <a:p>
            <a:pPr>
              <a:spcAft>
                <a:spcPts val="1600"/>
              </a:spcAft>
              <a:defRPr sz="1300" b="1">
                <a:solidFill>
                  <a:srgbClr val="F5A623"/>
                </a:solidFill>
              </a:defRPr>
            </a:pPr>
            <a:r>
              <a:t>Track-3-01: Climate-Resilient Water Intelligence for Campuses, Towns and Small Industries</a:t>
            </a:r>
          </a:p>
          <a:p>
            <a:pPr>
              <a:spcAft>
                <a:spcPts val="400"/>
              </a:spcAft>
              <a:defRPr sz="1200" b="1">
                <a:solidFill>
                  <a:srgbClr val="0F172A"/>
                </a:solidFill>
              </a:defRPr>
            </a:pPr>
            <a:r>
              <a:t>One-sentence challenge summary:</a:t>
            </a:r>
          </a:p>
          <a:p>
            <a:pPr>
              <a:spcAft>
                <a:spcPts val="1000"/>
              </a:spcAft>
              <a:defRPr sz="1100">
                <a:solidFill>
                  <a:srgbClr val="0F172A"/>
                </a:solidFill>
              </a:defRPr>
            </a:pPr>
            <a:r>
              <a:t>Building an intelligent, closed-loop drought supply chain that predicts 14-day water depletion via satellite telemetry, mathematically optimizes emergency relief routes with Google OR-Tools, and eliminates tanker diversion using geofenced dual-key cryptographic proof-of-delivery tied to state treasury escrow.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GROUND REALITY &amp; THE TRIPLE DROUGHT CRISIS</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02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3017520" cy="457200"/>
          </a:xfrm>
          <a:prstGeom prst="rect">
            <a:avLst/>
          </a:prstGeom>
          <a:noFill/>
        </p:spPr>
        <p:txBody>
          <a:bodyPr wrap="square">
            <a:spAutoFit/>
          </a:bodyPr>
          <a:lstStyle/>
          <a:p>
            <a:pPr>
              <a:defRPr sz="1500" b="1">
                <a:solidFill>
                  <a:srgbClr val="0F172A"/>
                </a:solidFill>
                <a:latin typeface="Arial"/>
              </a:defRPr>
            </a:pPr>
            <a:r>
              <a:t>1. Information Blindness</a:t>
            </a:r>
          </a:p>
        </p:txBody>
      </p:sp>
      <p:sp>
        <p:nvSpPr>
          <p:cNvPr id="12" name="TextBox 11"/>
          <p:cNvSpPr txBox="1"/>
          <p:nvPr/>
        </p:nvSpPr>
        <p:spPr>
          <a:xfrm>
            <a:off x="868680" y="1828800"/>
            <a:ext cx="3017520" cy="4069080"/>
          </a:xfrm>
          <a:prstGeom prst="rect">
            <a:avLst/>
          </a:prstGeom>
          <a:noFill/>
        </p:spPr>
        <p:txBody>
          <a:bodyPr wrap="square">
            <a:spAutoFit/>
          </a:bodyPr>
          <a:lstStyle/>
          <a:p>
            <a:pPr>
              <a:spcAft>
                <a:spcPts val="1200"/>
              </a:spcAft>
              <a:defRPr sz="1200">
                <a:solidFill>
                  <a:srgbClr val="0F172A"/>
                </a:solidFill>
              </a:defRPr>
            </a:pPr>
            <a:r>
              <a:t>• Reactive Crisis Management:</a:t>
            </a:r>
            <a:br/>
            <a:r>
              <a:t>Administration moves only after manual paper petitions arrive, by which time aquifers have run dry.</a:t>
            </a:r>
          </a:p>
          <a:p>
            <a:pPr>
              <a:spcAft>
                <a:spcPts val="1200"/>
              </a:spcAft>
              <a:defRPr sz="1200">
                <a:solidFill>
                  <a:srgbClr val="0F172A"/>
                </a:solidFill>
              </a:defRPr>
            </a:pPr>
            <a:r>
              <a:t>• Severe Over-Extraction:</a:t>
            </a:r>
            <a:br/>
            <a:r>
              <a:t>In rain-shadow talukas like Sinnar, dry-season extraction exceeds 120% of net recharge.</a:t>
            </a:r>
          </a:p>
          <a:p>
            <a:pPr>
              <a:defRPr sz="1200" b="1">
                <a:solidFill>
                  <a:srgbClr val="C0392B"/>
                </a:solidFill>
              </a:defRPr>
            </a:pPr>
            <a:r>
              <a:t>• Real Cost: Livestock perishing, distress migration, and sudden village school shutdowns.</a:t>
            </a:r>
          </a:p>
        </p:txBody>
      </p:sp>
      <p:sp>
        <p:nvSpPr>
          <p:cNvPr id="13" name="Rounded Rectangle 12"/>
          <p:cNvSpPr/>
          <p:nvPr/>
        </p:nvSpPr>
        <p:spPr>
          <a:xfrm>
            <a:off x="434340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16552" y="1371600"/>
            <a:ext cx="73152" cy="44805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371600"/>
            <a:ext cx="3017520" cy="457200"/>
          </a:xfrm>
          <a:prstGeom prst="rect">
            <a:avLst/>
          </a:prstGeom>
          <a:noFill/>
        </p:spPr>
        <p:txBody>
          <a:bodyPr wrap="square">
            <a:spAutoFit/>
          </a:bodyPr>
          <a:lstStyle/>
          <a:p>
            <a:pPr>
              <a:defRPr sz="1500" b="1">
                <a:solidFill>
                  <a:srgbClr val="0F172A"/>
                </a:solidFill>
                <a:latin typeface="Arial"/>
              </a:defRPr>
            </a:pPr>
            <a:r>
              <a:t>2. Tanker Mafia Diversion</a:t>
            </a:r>
          </a:p>
        </p:txBody>
      </p:sp>
      <p:sp>
        <p:nvSpPr>
          <p:cNvPr id="16" name="TextBox 15"/>
          <p:cNvSpPr txBox="1"/>
          <p:nvPr/>
        </p:nvSpPr>
        <p:spPr>
          <a:xfrm>
            <a:off x="4663440" y="1828800"/>
            <a:ext cx="3017520" cy="4069080"/>
          </a:xfrm>
          <a:prstGeom prst="rect">
            <a:avLst/>
          </a:prstGeom>
          <a:noFill/>
        </p:spPr>
        <p:txBody>
          <a:bodyPr wrap="square">
            <a:spAutoFit/>
          </a:bodyPr>
          <a:lstStyle/>
          <a:p>
            <a:pPr>
              <a:spcAft>
                <a:spcPts val="1200"/>
              </a:spcAft>
              <a:defRPr sz="1200">
                <a:solidFill>
                  <a:srgbClr val="0F172A"/>
                </a:solidFill>
              </a:defRPr>
            </a:pPr>
            <a:r>
              <a:t>• 22% Mid-Transit Leakage:</a:t>
            </a:r>
            <a:br/>
            <a:r>
              <a:t>Subsidized emergency state relief tankers are diverted to private commercial grape vineyards and stone quarries.</a:t>
            </a:r>
          </a:p>
          <a:p>
            <a:pPr>
              <a:spcAft>
                <a:spcPts val="1200"/>
              </a:spcAft>
              <a:defRPr sz="1200">
                <a:solidFill>
                  <a:srgbClr val="0F172A"/>
                </a:solidFill>
              </a:defRPr>
            </a:pPr>
            <a:r>
              <a:t>• Zero Audit Trail:</a:t>
            </a:r>
            <a:br/>
            <a:r>
              <a:t>Traditional paper delivery slips are forged; offline GPS trackers are routinely unplugged with zero consequence.</a:t>
            </a:r>
          </a:p>
          <a:p>
            <a:pPr>
              <a:defRPr sz="1200" b="1">
                <a:solidFill>
                  <a:srgbClr val="C0392B"/>
                </a:solidFill>
              </a:defRPr>
            </a:pPr>
            <a:r>
              <a:t>• Real Cost: ₹1.45 Lakhs taxpayer leakage per contractor per sub-district per month.</a:t>
            </a:r>
          </a:p>
        </p:txBody>
      </p:sp>
      <p:sp>
        <p:nvSpPr>
          <p:cNvPr id="17" name="Rounded Rectangle 16"/>
          <p:cNvSpPr/>
          <p:nvPr/>
        </p:nvSpPr>
        <p:spPr>
          <a:xfrm>
            <a:off x="813816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11312" y="1371600"/>
            <a:ext cx="73152" cy="4480560"/>
          </a:xfrm>
          <a:prstGeom prst="roundRect">
            <a:avLst/>
          </a:prstGeom>
          <a:solidFill>
            <a:srgbClr val="C039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1371600"/>
            <a:ext cx="3017520" cy="457200"/>
          </a:xfrm>
          <a:prstGeom prst="rect">
            <a:avLst/>
          </a:prstGeom>
          <a:noFill/>
        </p:spPr>
        <p:txBody>
          <a:bodyPr wrap="square">
            <a:spAutoFit/>
          </a:bodyPr>
          <a:lstStyle/>
          <a:p>
            <a:pPr>
              <a:defRPr sz="1500" b="1">
                <a:solidFill>
                  <a:srgbClr val="0F172A"/>
                </a:solidFill>
                <a:latin typeface="Arial"/>
              </a:defRPr>
            </a:pPr>
            <a:r>
              <a:t>3. Unoptimized Supply Chain</a:t>
            </a:r>
          </a:p>
        </p:txBody>
      </p:sp>
      <p:sp>
        <p:nvSpPr>
          <p:cNvPr id="20" name="TextBox 19"/>
          <p:cNvSpPr txBox="1"/>
          <p:nvPr/>
        </p:nvSpPr>
        <p:spPr>
          <a:xfrm>
            <a:off x="8458200" y="1828800"/>
            <a:ext cx="3017520" cy="4069080"/>
          </a:xfrm>
          <a:prstGeom prst="rect">
            <a:avLst/>
          </a:prstGeom>
          <a:noFill/>
        </p:spPr>
        <p:txBody>
          <a:bodyPr wrap="square">
            <a:spAutoFit/>
          </a:bodyPr>
          <a:lstStyle/>
          <a:p>
            <a:pPr>
              <a:spcAft>
                <a:spcPts val="1200"/>
              </a:spcAft>
              <a:defRPr sz="1200">
                <a:solidFill>
                  <a:srgbClr val="0F172A"/>
                </a:solidFill>
              </a:defRPr>
            </a:pPr>
            <a:r>
              <a:t>• Ad-Hoc Route Allocation:</a:t>
            </a:r>
            <a:br/>
            <a:r>
              <a:t>Tankers are dispatched based on political calls rather than scientific shortest-distance network models.</a:t>
            </a:r>
          </a:p>
          <a:p>
            <a:pPr>
              <a:spcAft>
                <a:spcPts val="1200"/>
              </a:spcAft>
              <a:defRPr sz="1200">
                <a:solidFill>
                  <a:srgbClr val="0F172A"/>
                </a:solidFill>
              </a:defRPr>
            </a:pPr>
            <a:r>
              <a:t>• 30% Fuel Hemorrhage:</a:t>
            </a:r>
            <a:br/>
            <a:r>
              <a:t>Empty return journeys, overlapping paths, and non-paved road breakdowns drain drought relief budgets.</a:t>
            </a:r>
          </a:p>
          <a:p>
            <a:pPr>
              <a:defRPr sz="1200" b="1">
                <a:solidFill>
                  <a:srgbClr val="C0392B"/>
                </a:solidFill>
              </a:defRPr>
            </a:pPr>
            <a:r>
              <a:t>• Real Cost: Remote hamlets wait 48+ hours past zero-reserve for basic drinking water.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PROPOSED SOLUTION: JALSANCHAR 3-LAYER DEFENSE</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03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3017520" cy="457200"/>
          </a:xfrm>
          <a:prstGeom prst="rect">
            <a:avLst/>
          </a:prstGeom>
          <a:noFill/>
        </p:spPr>
        <p:txBody>
          <a:bodyPr wrap="square">
            <a:spAutoFit/>
          </a:bodyPr>
          <a:lstStyle/>
          <a:p>
            <a:pPr>
              <a:defRPr sz="1500" b="1">
                <a:solidFill>
                  <a:srgbClr val="0F172A"/>
                </a:solidFill>
                <a:latin typeface="Arial"/>
              </a:defRPr>
            </a:pPr>
            <a:r>
              <a:t>Layer 1: Predictive AI</a:t>
            </a:r>
          </a:p>
        </p:txBody>
      </p:sp>
      <p:sp>
        <p:nvSpPr>
          <p:cNvPr id="12" name="TextBox 11"/>
          <p:cNvSpPr txBox="1"/>
          <p:nvPr/>
        </p:nvSpPr>
        <p:spPr>
          <a:xfrm>
            <a:off x="868680" y="1828800"/>
            <a:ext cx="3017520" cy="4069080"/>
          </a:xfrm>
          <a:prstGeom prst="rect">
            <a:avLst/>
          </a:prstGeom>
          <a:noFill/>
        </p:spPr>
        <p:txBody>
          <a:bodyPr wrap="square">
            <a:spAutoFit/>
          </a:bodyPr>
          <a:lstStyle/>
          <a:p>
            <a:pPr>
              <a:spcAft>
                <a:spcPts val="800"/>
              </a:spcAft>
              <a:defRPr sz="1300" b="1">
                <a:solidFill>
                  <a:srgbClr val="00A896"/>
                </a:solidFill>
              </a:defRPr>
            </a:pPr>
            <a:r>
              <a:t>14-Day Scarcity Telemetry</a:t>
            </a:r>
          </a:p>
          <a:p>
            <a:pPr>
              <a:spcAft>
                <a:spcPts val="800"/>
              </a:spcAft>
              <a:defRPr sz="1100">
                <a:solidFill>
                  <a:srgbClr val="0F172A"/>
                </a:solidFill>
              </a:defRPr>
            </a:pPr>
            <a:r>
              <a:t>• Synthesizes Sentinel/Copernicus soil moisture telemetry + operator logbooks.</a:t>
            </a:r>
          </a:p>
          <a:p>
            <a:pPr>
              <a:spcAft>
                <a:spcPts val="800"/>
              </a:spcAft>
              <a:defRPr sz="1100">
                <a:solidFill>
                  <a:srgbClr val="0F172A"/>
                </a:solidFill>
              </a:defRPr>
            </a:pPr>
            <a:r>
              <a:t>• Computes village Water Deficit Index (WDI) and depletion velocity.</a:t>
            </a:r>
          </a:p>
          <a:p>
            <a:pPr>
              <a:defRPr sz="1100">
                <a:solidFill>
                  <a:srgbClr val="475569"/>
                </a:solidFill>
              </a:defRPr>
            </a:pPr>
            <a:r>
              <a:t>• Replaces reactive firefighting with proactive, automated rationing triggers 2 weeks ahead.</a:t>
            </a:r>
          </a:p>
        </p:txBody>
      </p:sp>
      <p:sp>
        <p:nvSpPr>
          <p:cNvPr id="13" name="Rounded Rectangle 12"/>
          <p:cNvSpPr/>
          <p:nvPr/>
        </p:nvSpPr>
        <p:spPr>
          <a:xfrm>
            <a:off x="434340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1655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371600"/>
            <a:ext cx="3017520" cy="457200"/>
          </a:xfrm>
          <a:prstGeom prst="rect">
            <a:avLst/>
          </a:prstGeom>
          <a:noFill/>
        </p:spPr>
        <p:txBody>
          <a:bodyPr wrap="square">
            <a:spAutoFit/>
          </a:bodyPr>
          <a:lstStyle/>
          <a:p>
            <a:pPr>
              <a:defRPr sz="1500" b="1">
                <a:solidFill>
                  <a:srgbClr val="0F172A"/>
                </a:solidFill>
                <a:latin typeface="Arial"/>
              </a:defRPr>
            </a:pPr>
            <a:r>
              <a:t>Layer 2: Route Optimization</a:t>
            </a:r>
          </a:p>
        </p:txBody>
      </p:sp>
      <p:sp>
        <p:nvSpPr>
          <p:cNvPr id="16" name="TextBox 15"/>
          <p:cNvSpPr txBox="1"/>
          <p:nvPr/>
        </p:nvSpPr>
        <p:spPr>
          <a:xfrm>
            <a:off x="4663440" y="1828800"/>
            <a:ext cx="3017520" cy="4069080"/>
          </a:xfrm>
          <a:prstGeom prst="rect">
            <a:avLst/>
          </a:prstGeom>
          <a:noFill/>
        </p:spPr>
        <p:txBody>
          <a:bodyPr wrap="square">
            <a:spAutoFit/>
          </a:bodyPr>
          <a:lstStyle/>
          <a:p>
            <a:pPr>
              <a:spcAft>
                <a:spcPts val="800"/>
              </a:spcAft>
              <a:defRPr sz="1300" b="1">
                <a:solidFill>
                  <a:srgbClr val="148F77"/>
                </a:solidFill>
              </a:defRPr>
            </a:pPr>
            <a:r>
              <a:t>Google OR-Tools CVRP</a:t>
            </a:r>
          </a:p>
          <a:p>
            <a:pPr>
              <a:spcAft>
                <a:spcPts val="800"/>
              </a:spcAft>
              <a:defRPr sz="1100">
                <a:solidFill>
                  <a:srgbClr val="0F172A"/>
                </a:solidFill>
              </a:defRPr>
            </a:pPr>
            <a:r>
              <a:t>• Solves Capacitated Vehicle Routing Problem across 16 verified highway corridors (SH-7, NH-60).</a:t>
            </a:r>
          </a:p>
          <a:p>
            <a:pPr>
              <a:spcAft>
                <a:spcPts val="800"/>
              </a:spcAft>
              <a:defRPr sz="1100">
                <a:solidFill>
                  <a:srgbClr val="0F172A"/>
                </a:solidFill>
              </a:defRPr>
            </a:pPr>
            <a:r>
              <a:t>• Enforces Article 21 statutory mandates: 40 LPCD (human) &amp; 70 LPCD (cattle).</a:t>
            </a:r>
          </a:p>
          <a:p>
            <a:pPr>
              <a:defRPr sz="1100">
                <a:solidFill>
                  <a:srgbClr val="475569"/>
                </a:solidFill>
              </a:defRPr>
            </a:pPr>
            <a:r>
              <a:t>• Slashes tanker transit distance and diesel consumption by 28.4%.</a:t>
            </a:r>
          </a:p>
        </p:txBody>
      </p:sp>
      <p:sp>
        <p:nvSpPr>
          <p:cNvPr id="17" name="Rounded Rectangle 16"/>
          <p:cNvSpPr/>
          <p:nvPr/>
        </p:nvSpPr>
        <p:spPr>
          <a:xfrm>
            <a:off x="813816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11312" y="1371600"/>
            <a:ext cx="73152" cy="448056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1371600"/>
            <a:ext cx="3017520" cy="457200"/>
          </a:xfrm>
          <a:prstGeom prst="rect">
            <a:avLst/>
          </a:prstGeom>
          <a:noFill/>
        </p:spPr>
        <p:txBody>
          <a:bodyPr wrap="square">
            <a:spAutoFit/>
          </a:bodyPr>
          <a:lstStyle/>
          <a:p>
            <a:pPr>
              <a:defRPr sz="1500" b="1">
                <a:solidFill>
                  <a:srgbClr val="0F172A"/>
                </a:solidFill>
                <a:latin typeface="Arial"/>
              </a:defRPr>
            </a:pPr>
            <a:r>
              <a:t>Layer 3: Cryptographic Escrow</a:t>
            </a:r>
          </a:p>
        </p:txBody>
      </p:sp>
      <p:sp>
        <p:nvSpPr>
          <p:cNvPr id="20" name="TextBox 19"/>
          <p:cNvSpPr txBox="1"/>
          <p:nvPr/>
        </p:nvSpPr>
        <p:spPr>
          <a:xfrm>
            <a:off x="8458200" y="1828800"/>
            <a:ext cx="3017520" cy="4069080"/>
          </a:xfrm>
          <a:prstGeom prst="rect">
            <a:avLst/>
          </a:prstGeom>
          <a:noFill/>
        </p:spPr>
        <p:txBody>
          <a:bodyPr wrap="square">
            <a:spAutoFit/>
          </a:bodyPr>
          <a:lstStyle/>
          <a:p>
            <a:pPr>
              <a:spcAft>
                <a:spcPts val="800"/>
              </a:spcAft>
              <a:defRPr sz="1300" b="1">
                <a:solidFill>
                  <a:srgbClr val="F5A623"/>
                </a:solidFill>
              </a:defRPr>
            </a:pPr>
            <a:r>
              <a:t>Dual-Key QR Handshake</a:t>
            </a:r>
          </a:p>
          <a:p>
            <a:pPr>
              <a:spcAft>
                <a:spcPts val="800"/>
              </a:spcAft>
              <a:defRPr sz="1100">
                <a:solidFill>
                  <a:srgbClr val="0F172A"/>
                </a:solidFill>
              </a:defRPr>
            </a:pPr>
            <a:r>
              <a:t>• Dynamic TOTP QR payload with HMAC-SHA256 nonces (120s expiry).</a:t>
            </a:r>
          </a:p>
          <a:p>
            <a:pPr>
              <a:spcAft>
                <a:spcPts val="800"/>
              </a:spcAft>
              <a:defRPr sz="1100">
                <a:solidFill>
                  <a:srgbClr val="0F172A"/>
                </a:solidFill>
              </a:defRPr>
            </a:pPr>
            <a:r>
              <a:t>• Requires Driver Geokey + Cistern Statutory Key inside 15m geofence.</a:t>
            </a:r>
          </a:p>
          <a:p>
            <a:pPr>
              <a:defRPr sz="1100">
                <a:solidFill>
                  <a:srgbClr val="475569"/>
                </a:solidFill>
              </a:defRPr>
            </a:pPr>
            <a:r>
              <a:t>• Smart Escrow Settlement: Zero payment cleared without verified Sarpanch scan.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TRI-PARTY CLOSED-LOOP ARCHITECTURE</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04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11064240" cy="16459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12801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10607040" cy="457200"/>
          </a:xfrm>
          <a:prstGeom prst="rect">
            <a:avLst/>
          </a:prstGeom>
          <a:noFill/>
        </p:spPr>
        <p:txBody>
          <a:bodyPr wrap="square">
            <a:spAutoFit/>
          </a:bodyPr>
          <a:lstStyle/>
          <a:p>
            <a:pPr>
              <a:defRPr sz="1500" b="1">
                <a:solidFill>
                  <a:srgbClr val="0F172A"/>
                </a:solidFill>
                <a:latin typeface="Arial"/>
              </a:defRPr>
            </a:pPr>
            <a:r>
              <a:t>The 4-Step Closed-Loop Lifecycle</a:t>
            </a:r>
          </a:p>
        </p:txBody>
      </p:sp>
      <p:sp>
        <p:nvSpPr>
          <p:cNvPr id="12" name="TextBox 11"/>
          <p:cNvSpPr txBox="1"/>
          <p:nvPr/>
        </p:nvSpPr>
        <p:spPr>
          <a:xfrm>
            <a:off x="868680" y="1828800"/>
            <a:ext cx="10607040" cy="868680"/>
          </a:xfrm>
          <a:prstGeom prst="rect">
            <a:avLst/>
          </a:prstGeom>
          <a:noFill/>
        </p:spPr>
        <p:txBody>
          <a:bodyPr wrap="square">
            <a:spAutoFit/>
          </a:bodyPr>
          <a:lstStyle/>
          <a:p>
            <a:pPr>
              <a:spcAft>
                <a:spcPts val="600"/>
              </a:spcAft>
              <a:defRPr sz="1300" b="1">
                <a:solidFill>
                  <a:srgbClr val="148F77"/>
                </a:solidFill>
              </a:defRPr>
            </a:pPr>
            <a:r>
              <a:t>Step 1: Distress Demand Logged  →  Step 2: CVRP Route Dispatched  →  Step 3: Geofence Arrival  →  Step 4: Dual-Key Handshake Verified</a:t>
            </a:r>
          </a:p>
          <a:p>
            <a:pPr>
              <a:defRPr sz="1100">
                <a:solidFill>
                  <a:srgbClr val="475569"/>
                </a:solidFill>
              </a:defRPr>
            </a:pPr>
            <a:r>
              <a:t>All 3 personas communicate via a sub-15ms real-time event bus (BroadcastChannel + LocalStorage) with automatic synchronization to the central state ledger. Zero manual follow-ups required.</a:t>
            </a:r>
          </a:p>
        </p:txBody>
      </p:sp>
      <p:sp>
        <p:nvSpPr>
          <p:cNvPr id="13" name="Rounded Rectangle 12"/>
          <p:cNvSpPr/>
          <p:nvPr/>
        </p:nvSpPr>
        <p:spPr>
          <a:xfrm>
            <a:off x="548640" y="3017520"/>
            <a:ext cx="3474720" cy="30175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1792" y="3200400"/>
            <a:ext cx="73152" cy="26517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3200400"/>
            <a:ext cx="3017520" cy="457200"/>
          </a:xfrm>
          <a:prstGeom prst="rect">
            <a:avLst/>
          </a:prstGeom>
          <a:noFill/>
        </p:spPr>
        <p:txBody>
          <a:bodyPr wrap="square">
            <a:spAutoFit/>
          </a:bodyPr>
          <a:lstStyle/>
          <a:p>
            <a:pPr>
              <a:defRPr sz="1500" b="1">
                <a:solidFill>
                  <a:srgbClr val="0F172A"/>
                </a:solidFill>
                <a:latin typeface="Arial"/>
              </a:defRPr>
            </a:pPr>
            <a:r>
              <a:t>🌾 1. Gram Panchayat</a:t>
            </a:r>
          </a:p>
        </p:txBody>
      </p:sp>
      <p:sp>
        <p:nvSpPr>
          <p:cNvPr id="16" name="TextBox 15"/>
          <p:cNvSpPr txBox="1"/>
          <p:nvPr/>
        </p:nvSpPr>
        <p:spPr>
          <a:xfrm>
            <a:off x="868680" y="3657600"/>
            <a:ext cx="3017520" cy="2240280"/>
          </a:xfrm>
          <a:prstGeom prst="rect">
            <a:avLst/>
          </a:prstGeom>
          <a:noFill/>
        </p:spPr>
        <p:txBody>
          <a:bodyPr wrap="square">
            <a:spAutoFit/>
          </a:bodyPr>
          <a:lstStyle/>
          <a:p>
            <a:pPr>
              <a:defRPr sz="1100">
                <a:solidFill>
                  <a:srgbClr val="0F172A"/>
                </a:solidFill>
              </a:defRPr>
            </a:pPr>
            <a:r>
              <a:t>• Sarpanch &amp; Village Water Committee</a:t>
            </a:r>
            <a:br/>
            <a:r>
              <a:t>• Monitors cistern reserve (e.g. 7% critical)</a:t>
            </a:r>
            <a:br/>
            <a:r>
              <a:t>• Logs emergency demand ticket (#TKT-SN-02)</a:t>
            </a:r>
            <a:br/>
            <a:r>
              <a:t>• Scans driver QR at cistern to verify drop</a:t>
            </a:r>
            <a:br/>
            <a:r>
              <a:t>• Storage increases +10,000L to 29% Adequate</a:t>
            </a:r>
          </a:p>
        </p:txBody>
      </p:sp>
      <p:sp>
        <p:nvSpPr>
          <p:cNvPr id="17" name="Rounded Rectangle 16"/>
          <p:cNvSpPr/>
          <p:nvPr/>
        </p:nvSpPr>
        <p:spPr>
          <a:xfrm>
            <a:off x="4343400" y="3017520"/>
            <a:ext cx="3474720" cy="30175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4416552" y="3200400"/>
            <a:ext cx="73152" cy="265176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3200400"/>
            <a:ext cx="3017520" cy="457200"/>
          </a:xfrm>
          <a:prstGeom prst="rect">
            <a:avLst/>
          </a:prstGeom>
          <a:noFill/>
        </p:spPr>
        <p:txBody>
          <a:bodyPr wrap="square">
            <a:spAutoFit/>
          </a:bodyPr>
          <a:lstStyle/>
          <a:p>
            <a:pPr>
              <a:defRPr sz="1500" b="1">
                <a:solidFill>
                  <a:srgbClr val="0F172A"/>
                </a:solidFill>
                <a:latin typeface="Arial"/>
              </a:defRPr>
            </a:pPr>
            <a:r>
              <a:t>🏛️ 2. District Collector</a:t>
            </a:r>
          </a:p>
        </p:txBody>
      </p:sp>
      <p:sp>
        <p:nvSpPr>
          <p:cNvPr id="20" name="TextBox 19"/>
          <p:cNvSpPr txBox="1"/>
          <p:nvPr/>
        </p:nvSpPr>
        <p:spPr>
          <a:xfrm>
            <a:off x="4663440" y="3657600"/>
            <a:ext cx="3017520" cy="2240280"/>
          </a:xfrm>
          <a:prstGeom prst="rect">
            <a:avLst/>
          </a:prstGeom>
          <a:noFill/>
        </p:spPr>
        <p:txBody>
          <a:bodyPr wrap="square">
            <a:spAutoFit/>
          </a:bodyPr>
          <a:lstStyle/>
          <a:p>
            <a:pPr>
              <a:defRPr sz="1100">
                <a:solidFill>
                  <a:srgbClr val="0F172A"/>
                </a:solidFill>
              </a:defRPr>
            </a:pPr>
            <a:r>
              <a:t>• Command Center &amp; Disaster Authority</a:t>
            </a:r>
            <a:br/>
            <a:r>
              <a:t>• Receives live priority distress queue</a:t>
            </a:r>
            <a:br/>
            <a:r>
              <a:t>• Authorizes Google OR-Tools CVRP dispatch</a:t>
            </a:r>
            <a:br/>
            <a:r>
              <a:t>• Monitors live GPS &amp; geofence telemetry</a:t>
            </a:r>
            <a:br/>
            <a:r>
              <a:t>• Releases ₹15,000 contractor escrow payout</a:t>
            </a:r>
          </a:p>
        </p:txBody>
      </p:sp>
      <p:sp>
        <p:nvSpPr>
          <p:cNvPr id="21" name="Rounded Rectangle 20"/>
          <p:cNvSpPr/>
          <p:nvPr/>
        </p:nvSpPr>
        <p:spPr>
          <a:xfrm>
            <a:off x="8138160" y="3017520"/>
            <a:ext cx="3474720" cy="30175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211312" y="3200400"/>
            <a:ext cx="73152" cy="265176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58200" y="3200400"/>
            <a:ext cx="3017520" cy="457200"/>
          </a:xfrm>
          <a:prstGeom prst="rect">
            <a:avLst/>
          </a:prstGeom>
          <a:noFill/>
        </p:spPr>
        <p:txBody>
          <a:bodyPr wrap="square">
            <a:spAutoFit/>
          </a:bodyPr>
          <a:lstStyle/>
          <a:p>
            <a:pPr>
              <a:defRPr sz="1500" b="1">
                <a:solidFill>
                  <a:srgbClr val="0F172A"/>
                </a:solidFill>
                <a:latin typeface="Arial"/>
              </a:defRPr>
            </a:pPr>
            <a:r>
              <a:t>🚚 3. Tanker Driver</a:t>
            </a:r>
          </a:p>
        </p:txBody>
      </p:sp>
      <p:sp>
        <p:nvSpPr>
          <p:cNvPr id="24" name="TextBox 23"/>
          <p:cNvSpPr txBox="1"/>
          <p:nvPr/>
        </p:nvSpPr>
        <p:spPr>
          <a:xfrm>
            <a:off x="8458200" y="3657600"/>
            <a:ext cx="3017520" cy="2240280"/>
          </a:xfrm>
          <a:prstGeom prst="rect">
            <a:avLst/>
          </a:prstGeom>
          <a:noFill/>
        </p:spPr>
        <p:txBody>
          <a:bodyPr wrap="square">
            <a:spAutoFit/>
          </a:bodyPr>
          <a:lstStyle/>
          <a:p>
            <a:pPr>
              <a:defRPr sz="1100">
                <a:solidFill>
                  <a:srgbClr val="0F172A"/>
                </a:solidFill>
              </a:defRPr>
            </a:pPr>
            <a:r>
              <a:t>• Contractor Pilot (Field Cockpit PWA)</a:t>
            </a:r>
            <a:br/>
            <a:r>
              <a:t>• Receives assigned route to target cistern</a:t>
            </a:r>
            <a:br/>
            <a:r>
              <a:t>• Navigates verified paved highway corridor</a:t>
            </a:r>
            <a:br/>
            <a:r>
              <a:t>• Locks GPS within 15m cistern geofence</a:t>
            </a:r>
            <a:br/>
            <a:r>
              <a:t>• Presents dynamic HMAC QR to Sarpanch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TECHNICAL ARCHITECTURE &amp; SYSTEM WORKFLOW</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05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High-Performance Modular Stack</a:t>
            </a:r>
          </a:p>
        </p:txBody>
      </p:sp>
      <p:sp>
        <p:nvSpPr>
          <p:cNvPr id="12" name="TextBox 11"/>
          <p:cNvSpPr txBox="1"/>
          <p:nvPr/>
        </p:nvSpPr>
        <p:spPr>
          <a:xfrm>
            <a:off x="868680" y="1828800"/>
            <a:ext cx="4846320" cy="4069080"/>
          </a:xfrm>
          <a:prstGeom prst="rect">
            <a:avLst/>
          </a:prstGeom>
          <a:noFill/>
        </p:spPr>
        <p:txBody>
          <a:bodyPr wrap="square">
            <a:spAutoFit/>
          </a:bodyPr>
          <a:lstStyle/>
          <a:p>
            <a:pPr>
              <a:defRPr sz="1200" b="1">
                <a:solidFill>
                  <a:srgbClr val="0F172A"/>
                </a:solidFill>
              </a:defRPr>
            </a:pPr>
            <a:r>
              <a:t>• Frontend Presentation Layer:</a:t>
            </a:r>
          </a:p>
          <a:p>
            <a:pPr>
              <a:spcAft>
                <a:spcPts val="1000"/>
              </a:spcAft>
              <a:defRPr sz="1100">
                <a:solidFill>
                  <a:srgbClr val="475569"/>
                </a:solidFill>
              </a:defRPr>
            </a:pPr>
            <a:r>
              <a:t>  - Pure HTML5, Vanilla CSS, Modular ES6 JavaScript.</a:t>
            </a:r>
            <a:br/>
            <a:r>
              <a:t>  - Service Worker PWA for complete offline survivability.</a:t>
            </a:r>
            <a:br/>
            <a:r>
              <a:t>  - Leaflet.js with verified OSRM highway corridor circuits.</a:t>
            </a:r>
          </a:p>
          <a:p>
            <a:pPr>
              <a:defRPr sz="1200" b="1">
                <a:solidFill>
                  <a:srgbClr val="0F172A"/>
                </a:solidFill>
              </a:defRPr>
            </a:pPr>
            <a:r>
              <a:t>• Backend Engine Layer (FastAPI):</a:t>
            </a:r>
          </a:p>
          <a:p>
            <a:pPr>
              <a:spcAft>
                <a:spcPts val="1000"/>
              </a:spcAft>
              <a:defRPr sz="1100">
                <a:solidFill>
                  <a:srgbClr val="475569"/>
                </a:solidFill>
              </a:defRPr>
            </a:pPr>
            <a:r>
              <a:t>  - 33 enterprise REST API endpoints with bcrypt auth.</a:t>
            </a:r>
            <a:br/>
            <a:r>
              <a:t>  - Google OR-Tools CVRP multi-depot fleet solver.</a:t>
            </a:r>
            <a:br/>
            <a:r>
              <a:t>  - Cryptographic HMAC-SHA256 signature generator.</a:t>
            </a:r>
          </a:p>
          <a:p>
            <a:pPr>
              <a:defRPr sz="1200" b="1">
                <a:solidFill>
                  <a:srgbClr val="0F172A"/>
                </a:solidFill>
              </a:defRPr>
            </a:pPr>
            <a:r>
              <a:t>• Database &amp; State Synchronization:</a:t>
            </a:r>
          </a:p>
          <a:p>
            <a:pPr>
              <a:defRPr sz="1100">
                <a:solidFill>
                  <a:srgbClr val="475569"/>
                </a:solidFill>
              </a:defRPr>
            </a:pPr>
            <a:r>
              <a:t>  - Supabase PostgreSQL with Row Level Security (RLS).</a:t>
            </a:r>
            <a:br/>
            <a:r>
              <a:t>  - BroadcastChannel real-time multi-tab event bridge.</a:t>
            </a:r>
            <a:br/>
            <a:r>
              <a:t>  - Sovereign IndexedDB offline queue with deduplication.</a:t>
            </a:r>
          </a:p>
        </p:txBody>
      </p:sp>
      <p:sp>
        <p:nvSpPr>
          <p:cNvPr id="13" name="Rounded Rectangle 12"/>
          <p:cNvSpPr/>
          <p:nvPr/>
        </p:nvSpPr>
        <p:spPr>
          <a:xfrm>
            <a:off x="6217920" y="1188720"/>
            <a:ext cx="539496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End-to-End Operational Workflow</a:t>
            </a:r>
          </a:p>
        </p:txBody>
      </p:sp>
      <p:sp>
        <p:nvSpPr>
          <p:cNvPr id="16" name="TextBox 15"/>
          <p:cNvSpPr txBox="1"/>
          <p:nvPr/>
        </p:nvSpPr>
        <p:spPr>
          <a:xfrm>
            <a:off x="6537960" y="1828800"/>
            <a:ext cx="4937760" cy="4069080"/>
          </a:xfrm>
          <a:prstGeom prst="rect">
            <a:avLst/>
          </a:prstGeom>
          <a:noFill/>
        </p:spPr>
        <p:txBody>
          <a:bodyPr wrap="square">
            <a:spAutoFit/>
          </a:bodyPr>
          <a:lstStyle/>
          <a:p>
            <a:pPr>
              <a:defRPr sz="1200" b="1">
                <a:solidFill>
                  <a:srgbClr val="148F77"/>
                </a:solidFill>
              </a:defRPr>
            </a:pPr>
            <a:r>
              <a:t>1. Telemetry Aggregation (Day 0 - 14):</a:t>
            </a:r>
          </a:p>
          <a:p>
            <a:pPr>
              <a:spcAft>
                <a:spcPts val="800"/>
              </a:spcAft>
              <a:defRPr sz="1100">
                <a:solidFill>
                  <a:srgbClr val="475569"/>
                </a:solidFill>
              </a:defRPr>
            </a:pPr>
            <a:r>
              <a:t>Satellite observations + well logbooks calculate 14-day days-to-zero reserve curve.</a:t>
            </a:r>
          </a:p>
          <a:p>
            <a:pPr>
              <a:defRPr sz="1200" b="1">
                <a:solidFill>
                  <a:srgbClr val="148F77"/>
                </a:solidFill>
              </a:defRPr>
            </a:pPr>
            <a:r>
              <a:t>2. Priority Demand Logging:</a:t>
            </a:r>
          </a:p>
          <a:p>
            <a:pPr>
              <a:spcAft>
                <a:spcPts val="800"/>
              </a:spcAft>
              <a:defRPr sz="1100">
                <a:solidFill>
                  <a:srgbClr val="475569"/>
                </a:solidFill>
              </a:defRPr>
            </a:pPr>
            <a:r>
              <a:t>When well hits critical (e.g. 7%), Sarpanch logs ticket #TKT-SN-02 into District Command Center.</a:t>
            </a:r>
          </a:p>
          <a:p>
            <a:pPr>
              <a:defRPr sz="1200" b="1">
                <a:solidFill>
                  <a:srgbClr val="148F77"/>
                </a:solidFill>
              </a:defRPr>
            </a:pPr>
            <a:r>
              <a:t>3. Algorithmic CVRP Dispatch:</a:t>
            </a:r>
          </a:p>
          <a:p>
            <a:pPr>
              <a:spcAft>
                <a:spcPts val="800"/>
              </a:spcAft>
              <a:defRPr sz="1100">
                <a:solidFill>
                  <a:srgbClr val="475569"/>
                </a:solidFill>
              </a:defRPr>
            </a:pPr>
            <a:r>
              <a:t>OR-Tools allocates Tanker TN-SN-02 on verified SH-7 highway corridor (15 min ETA).</a:t>
            </a:r>
          </a:p>
          <a:p>
            <a:pPr>
              <a:defRPr sz="1200" b="1">
                <a:solidFill>
                  <a:srgbClr val="148F77"/>
                </a:solidFill>
              </a:defRPr>
            </a:pPr>
            <a:r>
              <a:t>4. Geofenced QR Attestation:</a:t>
            </a:r>
          </a:p>
          <a:p>
            <a:pPr>
              <a:defRPr sz="1100">
                <a:solidFill>
                  <a:srgbClr val="475569"/>
                </a:solidFill>
              </a:defRPr>
            </a:pPr>
            <a:r>
              <a:t>Driver reaches cistern (12m). Dual-key QR scanned. Escrow ₹15,000 released; storage updated.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MATHEMATICAL MODELING &amp; ROUTING ALGORITHMS</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06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192024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1. Water Deficit Index (WDI) Formula</a:t>
            </a:r>
          </a:p>
        </p:txBody>
      </p:sp>
      <p:sp>
        <p:nvSpPr>
          <p:cNvPr id="12" name="TextBox 11"/>
          <p:cNvSpPr txBox="1"/>
          <p:nvPr/>
        </p:nvSpPr>
        <p:spPr>
          <a:xfrm>
            <a:off x="868680" y="1828800"/>
            <a:ext cx="4846320" cy="1508760"/>
          </a:xfrm>
          <a:prstGeom prst="rect">
            <a:avLst/>
          </a:prstGeom>
          <a:noFill/>
        </p:spPr>
        <p:txBody>
          <a:bodyPr wrap="square">
            <a:spAutoFit/>
          </a:bodyPr>
          <a:lstStyle/>
          <a:p>
            <a:pPr>
              <a:spcAft>
                <a:spcPts val="600"/>
              </a:spcAft>
              <a:defRPr sz="1200" b="1">
                <a:solidFill>
                  <a:srgbClr val="00A896"/>
                </a:solidFill>
              </a:defRPr>
            </a:pPr>
            <a:r>
              <a:t>WDI = 0.40(1 - SoilMoisture) + 0.35(DepletionRate) + 0.25(1 - StorageRatio)</a:t>
            </a:r>
          </a:p>
          <a:p>
            <a:pPr>
              <a:defRPr sz="1100">
                <a:solidFill>
                  <a:srgbClr val="475569"/>
                </a:solidFill>
              </a:defRPr>
            </a:pPr>
            <a:r>
              <a:t>Days Remaining = CurrentReserve / (Population × 40L + Cattle × 70L)</a:t>
            </a:r>
            <a:br/>
            <a:r>
              <a:t>Triggers automated emergency status when Days Remaining &lt; 3 (or WDI &gt; 0.75).</a:t>
            </a:r>
          </a:p>
        </p:txBody>
      </p:sp>
      <p:sp>
        <p:nvSpPr>
          <p:cNvPr id="13" name="Rounded Rectangle 12"/>
          <p:cNvSpPr/>
          <p:nvPr/>
        </p:nvSpPr>
        <p:spPr>
          <a:xfrm>
            <a:off x="6217920" y="1188720"/>
            <a:ext cx="539496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192024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2. Haversine 15m Geofence Validation</a:t>
            </a:r>
          </a:p>
        </p:txBody>
      </p:sp>
      <p:sp>
        <p:nvSpPr>
          <p:cNvPr id="16" name="TextBox 15"/>
          <p:cNvSpPr txBox="1"/>
          <p:nvPr/>
        </p:nvSpPr>
        <p:spPr>
          <a:xfrm>
            <a:off x="6537960" y="1828800"/>
            <a:ext cx="4937760" cy="1508760"/>
          </a:xfrm>
          <a:prstGeom prst="rect">
            <a:avLst/>
          </a:prstGeom>
          <a:noFill/>
        </p:spPr>
        <p:txBody>
          <a:bodyPr wrap="square">
            <a:spAutoFit/>
          </a:bodyPr>
          <a:lstStyle/>
          <a:p>
            <a:pPr>
              <a:spcAft>
                <a:spcPts val="600"/>
              </a:spcAft>
              <a:defRPr sz="1200" b="1">
                <a:solidFill>
                  <a:srgbClr val="148F77"/>
                </a:solidFill>
              </a:defRPr>
            </a:pPr>
            <a:r>
              <a:t>d = 2R · arcsin(√(sin²(Δφ/2) + cos φ1 · cos φ2 · sin²(Δλ/2)))</a:t>
            </a:r>
          </a:p>
          <a:p>
            <a:pPr>
              <a:defRPr sz="1100">
                <a:solidFill>
                  <a:srgbClr val="475569"/>
                </a:solidFill>
              </a:defRPr>
            </a:pPr>
            <a:r>
              <a:t>Computes great-circle distance between tanker GPS and statutory cistern coordinates.</a:t>
            </a:r>
            <a:br/>
            <a:r>
              <a:t>If distance &gt; 15m, QR unlock token generation is cryptographically disabled.</a:t>
            </a:r>
          </a:p>
        </p:txBody>
      </p:sp>
      <p:sp>
        <p:nvSpPr>
          <p:cNvPr id="17" name="Rounded Rectangle 16"/>
          <p:cNvSpPr/>
          <p:nvPr/>
        </p:nvSpPr>
        <p:spPr>
          <a:xfrm>
            <a:off x="548640" y="3657600"/>
            <a:ext cx="11064240" cy="2377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 y="3840480"/>
            <a:ext cx="73152" cy="201168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840480"/>
            <a:ext cx="10607040" cy="457200"/>
          </a:xfrm>
          <a:prstGeom prst="rect">
            <a:avLst/>
          </a:prstGeom>
          <a:noFill/>
        </p:spPr>
        <p:txBody>
          <a:bodyPr wrap="square">
            <a:spAutoFit/>
          </a:bodyPr>
          <a:lstStyle/>
          <a:p>
            <a:pPr>
              <a:defRPr sz="1500" b="1">
                <a:solidFill>
                  <a:srgbClr val="0F172A"/>
                </a:solidFill>
                <a:latin typeface="Arial"/>
              </a:defRPr>
            </a:pPr>
            <a:r>
              <a:t>3. Google OR-Tools CVRP Multi-Tanker Optimization</a:t>
            </a:r>
          </a:p>
        </p:txBody>
      </p:sp>
      <p:sp>
        <p:nvSpPr>
          <p:cNvPr id="20" name="TextBox 19"/>
          <p:cNvSpPr txBox="1"/>
          <p:nvPr/>
        </p:nvSpPr>
        <p:spPr>
          <a:xfrm>
            <a:off x="868680" y="4297680"/>
            <a:ext cx="10607040" cy="1600200"/>
          </a:xfrm>
          <a:prstGeom prst="rect">
            <a:avLst/>
          </a:prstGeom>
          <a:noFill/>
        </p:spPr>
        <p:txBody>
          <a:bodyPr wrap="square">
            <a:spAutoFit/>
          </a:bodyPr>
          <a:lstStyle/>
          <a:p>
            <a:pPr>
              <a:spcAft>
                <a:spcPts val="600"/>
              </a:spcAft>
              <a:defRPr sz="1300" b="1">
                <a:solidFill>
                  <a:srgbClr val="0B2545"/>
                </a:solidFill>
              </a:defRPr>
            </a:pPr>
            <a:r>
              <a:t>Objective: Minimize Total Fleet Distance = ∑ c_ij · x_ij subject to Tanker Capacity &amp; Relief Mandates</a:t>
            </a:r>
          </a:p>
          <a:p>
            <a:pPr>
              <a:defRPr sz="1100">
                <a:solidFill>
                  <a:srgbClr val="475569"/>
                </a:solidFill>
              </a:defRPr>
            </a:pPr>
            <a:r>
              <a:t>• Capacity Constraints: ∑ DemandedLiters_i ≤ FleetCapacity_k (e.g. 10,000L - 12,000L tanks).</a:t>
            </a:r>
            <a:br/>
            <a:r>
              <a:t>• Article 21 Relief Guarantees: 40L/person and 70L/cattle mandatory quotas fulfilled with 0 deficit.</a:t>
            </a:r>
            <a:br/>
            <a:r>
              <a:t>• Verified Road Geometry: All cost matrix values c_ij are derived from real OSRM paved highway routing profiles (SH-7, NH-60, bypasses) rather than unrealistic straight-line Euclidean distances.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ANTI-DIVERSION &amp; CRYPTOGRAPHIC PROOF-OF-DELIVERY</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07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Dual-Key Geofenced QR Attestation</a:t>
            </a:r>
          </a:p>
        </p:txBody>
      </p:sp>
      <p:sp>
        <p:nvSpPr>
          <p:cNvPr id="12" name="TextBox 11"/>
          <p:cNvSpPr txBox="1"/>
          <p:nvPr/>
        </p:nvSpPr>
        <p:spPr>
          <a:xfrm>
            <a:off x="868680" y="1828800"/>
            <a:ext cx="4846320" cy="4069080"/>
          </a:xfrm>
          <a:prstGeom prst="rect">
            <a:avLst/>
          </a:prstGeom>
          <a:noFill/>
        </p:spPr>
        <p:txBody>
          <a:bodyPr wrap="square">
            <a:spAutoFit/>
          </a:bodyPr>
          <a:lstStyle/>
          <a:p>
            <a:pPr>
              <a:spcAft>
                <a:spcPts val="800"/>
              </a:spcAft>
              <a:defRPr sz="1300" b="1">
                <a:solidFill>
                  <a:srgbClr val="F5A623"/>
                </a:solidFill>
              </a:defRPr>
            </a:pPr>
            <a:r>
              <a:t>Why Diversion is Mathematically Impossible:</a:t>
            </a:r>
          </a:p>
          <a:p>
            <a:pPr>
              <a:defRPr sz="1200" b="1">
                <a:solidFill>
                  <a:srgbClr val="0F172A"/>
                </a:solidFill>
              </a:defRPr>
            </a:pPr>
            <a:r>
              <a:t>1. Dynamic TOTP Signature (HMAC-SHA256):</a:t>
            </a:r>
          </a:p>
          <a:p>
            <a:pPr>
              <a:spcAft>
                <a:spcPts val="800"/>
              </a:spcAft>
              <a:defRPr sz="1100">
                <a:solidFill>
                  <a:srgbClr val="475569"/>
                </a:solidFill>
              </a:defRPr>
            </a:pPr>
            <a:r>
              <a:t>Payload includes unique 16-hex nonce and 120s timestamp. Screenshots, printed copies, or video captures cannot be replayed (Anti-Replay Nonce Engine).</a:t>
            </a:r>
          </a:p>
          <a:p>
            <a:pPr>
              <a:defRPr sz="1200" b="1">
                <a:solidFill>
                  <a:srgbClr val="0F172A"/>
                </a:solidFill>
              </a:defRPr>
            </a:pPr>
            <a:r>
              <a:t>2. Dual-Key Binding Requirement:</a:t>
            </a:r>
          </a:p>
          <a:p>
            <a:pPr>
              <a:spcAft>
                <a:spcPts val="800"/>
              </a:spcAft>
              <a:defRPr sz="1100">
                <a:solidFill>
                  <a:srgbClr val="475569"/>
                </a:solidFill>
              </a:defRPr>
            </a:pPr>
            <a:r>
              <a:t>Delivery validation binds Driver Private Key (0x9F3B4E...) + Cistern Statutory Key (0x74CE8A...). A driver parked at a private grape vineyard lacks the village cistern key.</a:t>
            </a:r>
          </a:p>
          <a:p>
            <a:pPr>
              <a:defRPr sz="1200" b="1">
                <a:solidFill>
                  <a:srgbClr val="0F172A"/>
                </a:solidFill>
              </a:defRPr>
            </a:pPr>
            <a:r>
              <a:t>3. Strict 15m Geofence Lock:</a:t>
            </a:r>
          </a:p>
          <a:p>
            <a:pPr>
              <a:defRPr sz="1100">
                <a:solidFill>
                  <a:srgbClr val="475569"/>
                </a:solidFill>
              </a:defRPr>
            </a:pPr>
            <a:r>
              <a:t>Mobile GPS coordinate verification confirms driver and tanker are physically stationed at the public cistern before decoding.</a:t>
            </a:r>
          </a:p>
        </p:txBody>
      </p:sp>
      <p:sp>
        <p:nvSpPr>
          <p:cNvPr id="13" name="Rounded Rectangle 12"/>
          <p:cNvSpPr/>
          <p:nvPr/>
        </p:nvSpPr>
        <p:spPr>
          <a:xfrm>
            <a:off x="6217920" y="1188720"/>
            <a:ext cx="539496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Smart Escrow Settlement ('No Proof, No Pay')</a:t>
            </a:r>
          </a:p>
        </p:txBody>
      </p:sp>
      <p:sp>
        <p:nvSpPr>
          <p:cNvPr id="16" name="TextBox 15"/>
          <p:cNvSpPr txBox="1"/>
          <p:nvPr/>
        </p:nvSpPr>
        <p:spPr>
          <a:xfrm>
            <a:off x="6537960" y="1828800"/>
            <a:ext cx="4937760" cy="4069080"/>
          </a:xfrm>
          <a:prstGeom prst="rect">
            <a:avLst/>
          </a:prstGeom>
          <a:noFill/>
        </p:spPr>
        <p:txBody>
          <a:bodyPr wrap="square">
            <a:spAutoFit/>
          </a:bodyPr>
          <a:lstStyle/>
          <a:p>
            <a:pPr>
              <a:spcAft>
                <a:spcPts val="800"/>
              </a:spcAft>
              <a:defRPr sz="1300" b="1">
                <a:solidFill>
                  <a:srgbClr val="148F77"/>
                </a:solidFill>
              </a:defRPr>
            </a:pPr>
            <a:r>
              <a:t>State Treasury Contractor Escrow Engine:</a:t>
            </a:r>
          </a:p>
          <a:p>
            <a:pPr>
              <a:defRPr sz="1200" b="1">
                <a:solidFill>
                  <a:srgbClr val="0F172A"/>
                </a:solidFill>
              </a:defRPr>
            </a:pPr>
            <a:r>
              <a:t>• Subsidized Trip Funds Held in Escrow:</a:t>
            </a:r>
          </a:p>
          <a:p>
            <a:pPr>
              <a:spcAft>
                <a:spcPts val="1000"/>
              </a:spcAft>
              <a:defRPr sz="1100">
                <a:solidFill>
                  <a:srgbClr val="475569"/>
                </a:solidFill>
              </a:defRPr>
            </a:pPr>
            <a:r>
              <a:t>State drought relief contractor payment (₹15,000 per 10,000L trip) is locked in digital escrow upon dispatch authorization.</a:t>
            </a:r>
          </a:p>
          <a:p>
            <a:pPr>
              <a:defRPr sz="1200" b="1">
                <a:solidFill>
                  <a:srgbClr val="0F172A"/>
                </a:solidFill>
              </a:defRPr>
            </a:pPr>
            <a:r>
              <a:t>• Instant Settlement on Verified Handshake:</a:t>
            </a:r>
          </a:p>
          <a:p>
            <a:pPr>
              <a:spcAft>
                <a:spcPts val="1000"/>
              </a:spcAft>
              <a:defRPr sz="1100">
                <a:solidFill>
                  <a:srgbClr val="475569"/>
                </a:solidFill>
              </a:defRPr>
            </a:pPr>
            <a:r>
              <a:t>Upon successful Sarpanch scan, system generates immutable Treasury Token (e.g. JAL-TREASURY-AUTH-88B1) and releases payout.</a:t>
            </a:r>
          </a:p>
          <a:p>
            <a:pPr>
              <a:defRPr sz="1200" b="1">
                <a:solidFill>
                  <a:srgbClr val="C0392B"/>
                </a:solidFill>
              </a:defRPr>
            </a:pPr>
            <a:r>
              <a:t>• Automated Anomaly Penalty Freeze:</a:t>
            </a:r>
          </a:p>
          <a:p>
            <a:pPr>
              <a:defRPr sz="1100">
                <a:solidFill>
                  <a:srgbClr val="475569"/>
                </a:solidFill>
              </a:defRPr>
            </a:pPr>
            <a:r>
              <a:t>If route divergence &gt; 5km is detected without geofence handshake, contractor escrow balance is frozen with ₹1,45,000 penalty and RTO alerted.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REAL-WORLD PILOT: AHILYANAGAR &amp; SINNAR TALUKA</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08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Pilot Specifications &amp; Regional Geography</a:t>
            </a:r>
          </a:p>
        </p:txBody>
      </p:sp>
      <p:sp>
        <p:nvSpPr>
          <p:cNvPr id="12" name="TextBox 11"/>
          <p:cNvSpPr txBox="1"/>
          <p:nvPr/>
        </p:nvSpPr>
        <p:spPr>
          <a:xfrm>
            <a:off x="868680" y="1828800"/>
            <a:ext cx="4846320" cy="4069080"/>
          </a:xfrm>
          <a:prstGeom prst="rect">
            <a:avLst/>
          </a:prstGeom>
          <a:noFill/>
        </p:spPr>
        <p:txBody>
          <a:bodyPr wrap="square">
            <a:spAutoFit/>
          </a:bodyPr>
          <a:lstStyle/>
          <a:p>
            <a:pPr>
              <a:defRPr sz="1200" b="1">
                <a:solidFill>
                  <a:srgbClr val="0F172A"/>
                </a:solidFill>
              </a:defRPr>
            </a:pPr>
            <a:r>
              <a:t>• Operational Sector:</a:t>
            </a:r>
          </a:p>
          <a:p>
            <a:pPr>
              <a:spcAft>
                <a:spcPts val="800"/>
              </a:spcAft>
              <a:defRPr sz="1100">
                <a:solidFill>
                  <a:srgbClr val="475569"/>
                </a:solidFill>
              </a:defRPr>
            </a:pPr>
            <a:r>
              <a:t>Sinnar Taluka (Nashik District) &amp; Ahilyanagar District (Maharashtra Rain-Shadow Corridor).</a:t>
            </a:r>
          </a:p>
          <a:p>
            <a:pPr>
              <a:defRPr sz="1200" b="1">
                <a:solidFill>
                  <a:srgbClr val="0F172A"/>
                </a:solidFill>
              </a:defRPr>
            </a:pPr>
            <a:r>
              <a:t>• 8 Monitored High-Vulnerability Villages:</a:t>
            </a:r>
          </a:p>
          <a:p>
            <a:pPr>
              <a:spcAft>
                <a:spcPts val="800"/>
              </a:spcAft>
              <a:defRPr sz="1100">
                <a:solidFill>
                  <a:srgbClr val="475569"/>
                </a:solidFill>
              </a:defRPr>
            </a:pPr>
            <a:r>
              <a:t>Khopadi (7%), Pangari (11%), Wadgaon (19%), Dubere (15%), Dapur, Nandur, Tisgaon, Supa.</a:t>
            </a:r>
          </a:p>
          <a:p>
            <a:pPr>
              <a:defRPr sz="1200" b="1">
                <a:solidFill>
                  <a:srgbClr val="0F172A"/>
                </a:solidFill>
              </a:defRPr>
            </a:pPr>
            <a:r>
              <a:t>• 16 Verified Highway Circuits (OSRM Telemetry):</a:t>
            </a:r>
          </a:p>
          <a:p>
            <a:pPr>
              <a:defRPr sz="1100">
                <a:solidFill>
                  <a:srgbClr val="475569"/>
                </a:solidFill>
              </a:defRPr>
            </a:pPr>
            <a:r>
              <a:t>State Highway 7 (Sinnar-Shirdi), NH-60, Wavi Relay, and Malshiras link roads verified for maximum axle load capacity.</a:t>
            </a:r>
          </a:p>
        </p:txBody>
      </p:sp>
      <p:sp>
        <p:nvSpPr>
          <p:cNvPr id="13" name="Rounded Rectangle 12"/>
          <p:cNvSpPr/>
          <p:nvPr/>
        </p:nvSpPr>
        <p:spPr>
          <a:xfrm>
            <a:off x="6217920" y="1188720"/>
            <a:ext cx="539496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The Khopadi Benchmark Delivery Run</a:t>
            </a:r>
          </a:p>
        </p:txBody>
      </p:sp>
      <p:sp>
        <p:nvSpPr>
          <p:cNvPr id="16" name="TextBox 15"/>
          <p:cNvSpPr txBox="1"/>
          <p:nvPr/>
        </p:nvSpPr>
        <p:spPr>
          <a:xfrm>
            <a:off x="6537960" y="1828800"/>
            <a:ext cx="4937760" cy="4069080"/>
          </a:xfrm>
          <a:prstGeom prst="rect">
            <a:avLst/>
          </a:prstGeom>
          <a:noFill/>
        </p:spPr>
        <p:txBody>
          <a:bodyPr wrap="square">
            <a:spAutoFit/>
          </a:bodyPr>
          <a:lstStyle/>
          <a:p>
            <a:pPr>
              <a:spcAft>
                <a:spcPts val="800"/>
              </a:spcAft>
              <a:defRPr sz="1300" b="1">
                <a:solidFill>
                  <a:srgbClr val="148F77"/>
                </a:solidFill>
              </a:defRPr>
            </a:pPr>
            <a:r>
              <a:t>Live Execution Walkthrough:</a:t>
            </a:r>
          </a:p>
          <a:p>
            <a:pPr>
              <a:defRPr sz="1200" b="1">
                <a:solidFill>
                  <a:srgbClr val="0F172A"/>
                </a:solidFill>
              </a:defRPr>
            </a:pPr>
            <a:r>
              <a:t>1. Distress Trigger:</a:t>
            </a:r>
          </a:p>
          <a:p>
            <a:pPr>
              <a:spcAft>
                <a:spcPts val="800"/>
              </a:spcAft>
              <a:defRPr sz="1100">
                <a:solidFill>
                  <a:srgbClr val="475569"/>
                </a:solidFill>
              </a:defRPr>
            </a:pPr>
            <a:r>
              <a:t>Khopadi cistern reserve hit 7% (3,150L, 13h horizon). Sarpanch Sunita Deshmukh raised ticket #TKT-SN-02.</a:t>
            </a:r>
          </a:p>
          <a:p>
            <a:pPr>
              <a:defRPr sz="1200" b="1">
                <a:solidFill>
                  <a:srgbClr val="0F172A"/>
                </a:solidFill>
              </a:defRPr>
            </a:pPr>
            <a:r>
              <a:t>2. CVRP Allocation:</a:t>
            </a:r>
          </a:p>
          <a:p>
            <a:pPr>
              <a:spcAft>
                <a:spcPts val="800"/>
              </a:spcAft>
              <a:defRPr sz="1100">
                <a:solidFill>
                  <a:srgbClr val="475569"/>
                </a:solidFill>
              </a:defRPr>
            </a:pPr>
            <a:r>
              <a:t>Collector Command Center authorized Tanker TN-SN-02 (Driver: Ramesh Patil) via SH-7 shortest verified path.</a:t>
            </a:r>
          </a:p>
          <a:p>
            <a:pPr>
              <a:defRPr sz="1200" b="1">
                <a:solidFill>
                  <a:srgbClr val="0F172A"/>
                </a:solidFill>
              </a:defRPr>
            </a:pPr>
            <a:r>
              <a:t>3. On-Site Handshake &amp; Restored Water Security:</a:t>
            </a:r>
          </a:p>
          <a:p>
            <a:pPr>
              <a:defRPr sz="1100">
                <a:solidFill>
                  <a:srgbClr val="475569"/>
                </a:solidFill>
              </a:defRPr>
            </a:pPr>
            <a:r>
              <a:t>Driver arrived within 12m. Sarpanch scanned dynamic QR. Tanker offloaded 10,000L. Cistern level restored to 29% (13,150L). Article 21 quota secured for 3,200 citizens &amp; 1,200 cattle.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QUANTIFIABLE IMPACT &amp; FEASIBILITY ANALYSIS</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09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192024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28.4% Fuel &amp; Diesel Burn Cut</a:t>
            </a:r>
          </a:p>
        </p:txBody>
      </p:sp>
      <p:sp>
        <p:nvSpPr>
          <p:cNvPr id="12" name="TextBox 11"/>
          <p:cNvSpPr txBox="1"/>
          <p:nvPr/>
        </p:nvSpPr>
        <p:spPr>
          <a:xfrm>
            <a:off x="868680" y="1828800"/>
            <a:ext cx="4846320" cy="1508760"/>
          </a:xfrm>
          <a:prstGeom prst="rect">
            <a:avLst/>
          </a:prstGeom>
          <a:noFill/>
        </p:spPr>
        <p:txBody>
          <a:bodyPr wrap="square">
            <a:spAutoFit/>
          </a:bodyPr>
          <a:lstStyle/>
          <a:p>
            <a:pPr>
              <a:spcAft>
                <a:spcPts val="400"/>
              </a:spcAft>
              <a:defRPr sz="1100">
                <a:solidFill>
                  <a:srgbClr val="0F172A"/>
                </a:solidFill>
              </a:defRPr>
            </a:pPr>
            <a:r>
              <a:t>• Google OR-Tools CVRP eliminates overlapping routes &amp; empty return runs.</a:t>
            </a:r>
          </a:p>
          <a:p>
            <a:pPr>
              <a:defRPr sz="1100" b="1">
                <a:solidFill>
                  <a:srgbClr val="148F77"/>
                </a:solidFill>
              </a:defRPr>
            </a:pPr>
            <a:r>
              <a:t>• Saves ~₹42,000 daily across a 20-tanker sub-district relief fleet.</a:t>
            </a:r>
          </a:p>
          <a:p>
            <a:pPr>
              <a:defRPr sz="1100">
                <a:solidFill>
                  <a:srgbClr val="475569"/>
                </a:solidFill>
              </a:defRPr>
            </a:pPr>
            <a:r>
              <a:t>• Reduces 12.8 tons of CO2 emissions monthly in drought mitigation logistics.</a:t>
            </a:r>
          </a:p>
        </p:txBody>
      </p:sp>
      <p:sp>
        <p:nvSpPr>
          <p:cNvPr id="13" name="Rounded Rectangle 12"/>
          <p:cNvSpPr/>
          <p:nvPr/>
        </p:nvSpPr>
        <p:spPr>
          <a:xfrm>
            <a:off x="6217920" y="1188720"/>
            <a:ext cx="5394960" cy="228600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192024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100% Diversion Elimination</a:t>
            </a:r>
          </a:p>
        </p:txBody>
      </p:sp>
      <p:sp>
        <p:nvSpPr>
          <p:cNvPr id="16" name="TextBox 15"/>
          <p:cNvSpPr txBox="1"/>
          <p:nvPr/>
        </p:nvSpPr>
        <p:spPr>
          <a:xfrm>
            <a:off x="6537960" y="1828800"/>
            <a:ext cx="4937760" cy="1508760"/>
          </a:xfrm>
          <a:prstGeom prst="rect">
            <a:avLst/>
          </a:prstGeom>
          <a:noFill/>
        </p:spPr>
        <p:txBody>
          <a:bodyPr wrap="square">
            <a:spAutoFit/>
          </a:bodyPr>
          <a:lstStyle/>
          <a:p>
            <a:pPr>
              <a:spcAft>
                <a:spcPts val="400"/>
              </a:spcAft>
              <a:defRPr sz="1100">
                <a:solidFill>
                  <a:srgbClr val="0F172A"/>
                </a:solidFill>
              </a:defRPr>
            </a:pPr>
            <a:r>
              <a:t>• Permanent shut-down of unauthorized commercial water diversion.</a:t>
            </a:r>
          </a:p>
          <a:p>
            <a:pPr>
              <a:defRPr sz="1100" b="1">
                <a:solidFill>
                  <a:srgbClr val="F5A623"/>
                </a:solidFill>
              </a:defRPr>
            </a:pPr>
            <a:r>
              <a:t>• Zero contractor invoices paid without cryptographic Sarpanch attestation.</a:t>
            </a:r>
          </a:p>
          <a:p>
            <a:pPr>
              <a:defRPr sz="1100">
                <a:solidFill>
                  <a:srgbClr val="475569"/>
                </a:solidFill>
              </a:defRPr>
            </a:pPr>
            <a:r>
              <a:t>• Guaranteed recovery of ₹1.45 Lakhs penalty per detected diversion attempt.</a:t>
            </a:r>
          </a:p>
        </p:txBody>
      </p:sp>
      <p:sp>
        <p:nvSpPr>
          <p:cNvPr id="17" name="Rounded Rectangle 16"/>
          <p:cNvSpPr/>
          <p:nvPr/>
        </p:nvSpPr>
        <p:spPr>
          <a:xfrm>
            <a:off x="548640" y="3657600"/>
            <a:ext cx="5303520" cy="2377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1792" y="3840480"/>
            <a:ext cx="73152" cy="201168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68680" y="3840480"/>
            <a:ext cx="4846320" cy="457200"/>
          </a:xfrm>
          <a:prstGeom prst="rect">
            <a:avLst/>
          </a:prstGeom>
          <a:noFill/>
        </p:spPr>
        <p:txBody>
          <a:bodyPr wrap="square">
            <a:spAutoFit/>
          </a:bodyPr>
          <a:lstStyle/>
          <a:p>
            <a:pPr>
              <a:defRPr sz="1500" b="1">
                <a:solidFill>
                  <a:srgbClr val="0F172A"/>
                </a:solidFill>
                <a:latin typeface="Arial"/>
              </a:defRPr>
            </a:pPr>
            <a:r>
              <a:t>14-Day Advance Warning</a:t>
            </a:r>
          </a:p>
        </p:txBody>
      </p:sp>
      <p:sp>
        <p:nvSpPr>
          <p:cNvPr id="20" name="TextBox 19"/>
          <p:cNvSpPr txBox="1"/>
          <p:nvPr/>
        </p:nvSpPr>
        <p:spPr>
          <a:xfrm>
            <a:off x="868680" y="4297680"/>
            <a:ext cx="4846320" cy="1600200"/>
          </a:xfrm>
          <a:prstGeom prst="rect">
            <a:avLst/>
          </a:prstGeom>
          <a:noFill/>
        </p:spPr>
        <p:txBody>
          <a:bodyPr wrap="square">
            <a:spAutoFit/>
          </a:bodyPr>
          <a:lstStyle/>
          <a:p>
            <a:pPr>
              <a:spcAft>
                <a:spcPts val="400"/>
              </a:spcAft>
              <a:defRPr sz="1100">
                <a:solidFill>
                  <a:srgbClr val="0F172A"/>
                </a:solidFill>
              </a:defRPr>
            </a:pPr>
            <a:r>
              <a:t>• Replaces 7-14 day paper petition lag with automated depletion velocity alarms.</a:t>
            </a:r>
          </a:p>
          <a:p>
            <a:pPr>
              <a:defRPr sz="1100" b="1">
                <a:solidFill>
                  <a:srgbClr val="00A896"/>
                </a:solidFill>
              </a:defRPr>
            </a:pPr>
            <a:r>
              <a:t>• Zero emergency school or clinic closures due to unannounced water outages.</a:t>
            </a:r>
          </a:p>
          <a:p>
            <a:pPr>
              <a:defRPr sz="1100">
                <a:solidFill>
                  <a:srgbClr val="475569"/>
                </a:solidFill>
              </a:defRPr>
            </a:pPr>
            <a:r>
              <a:t>• Enables advance water procurement before reservoir prices spike.</a:t>
            </a:r>
          </a:p>
        </p:txBody>
      </p:sp>
      <p:sp>
        <p:nvSpPr>
          <p:cNvPr id="21" name="Rounded Rectangle 20"/>
          <p:cNvSpPr/>
          <p:nvPr/>
        </p:nvSpPr>
        <p:spPr>
          <a:xfrm>
            <a:off x="6217920" y="3657600"/>
            <a:ext cx="5394960" cy="237744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91072" y="3840480"/>
            <a:ext cx="73152" cy="201168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37960" y="3840480"/>
            <a:ext cx="4937760" cy="457200"/>
          </a:xfrm>
          <a:prstGeom prst="rect">
            <a:avLst/>
          </a:prstGeom>
          <a:noFill/>
        </p:spPr>
        <p:txBody>
          <a:bodyPr wrap="square">
            <a:spAutoFit/>
          </a:bodyPr>
          <a:lstStyle/>
          <a:p>
            <a:pPr>
              <a:defRPr sz="1500" b="1">
                <a:solidFill>
                  <a:srgbClr val="0F172A"/>
                </a:solidFill>
                <a:latin typeface="Arial"/>
              </a:defRPr>
            </a:pPr>
            <a:r>
              <a:t>Statutory Article 21 Compliance</a:t>
            </a:r>
          </a:p>
        </p:txBody>
      </p:sp>
      <p:sp>
        <p:nvSpPr>
          <p:cNvPr id="24" name="TextBox 23"/>
          <p:cNvSpPr txBox="1"/>
          <p:nvPr/>
        </p:nvSpPr>
        <p:spPr>
          <a:xfrm>
            <a:off x="6537960" y="4297680"/>
            <a:ext cx="4937760" cy="1600200"/>
          </a:xfrm>
          <a:prstGeom prst="rect">
            <a:avLst/>
          </a:prstGeom>
          <a:noFill/>
        </p:spPr>
        <p:txBody>
          <a:bodyPr wrap="square">
            <a:spAutoFit/>
          </a:bodyPr>
          <a:lstStyle/>
          <a:p>
            <a:pPr>
              <a:spcAft>
                <a:spcPts val="400"/>
              </a:spcAft>
              <a:defRPr sz="1100">
                <a:solidFill>
                  <a:srgbClr val="0F172A"/>
                </a:solidFill>
              </a:defRPr>
            </a:pPr>
            <a:r>
              <a:t>• 100% adherence to 40 LPCD human minimum &amp; 70 LPCD livestock quota.</a:t>
            </a:r>
          </a:p>
          <a:p>
            <a:pPr>
              <a:defRPr sz="1100" b="1">
                <a:solidFill>
                  <a:srgbClr val="0B2545"/>
                </a:solidFill>
              </a:defRPr>
            </a:pPr>
            <a:r>
              <a:t>• Cryptographic audit trail clears State Treasury scrutiny under RTI &amp; CAG.</a:t>
            </a:r>
          </a:p>
          <a:p>
            <a:pPr>
              <a:defRPr sz="1100">
                <a:solidFill>
                  <a:srgbClr val="475569"/>
                </a:solidFill>
              </a:defRPr>
            </a:pPr>
            <a:r>
              <a:t>• Citizen Public Tracker provides radical transparency for 45,000+ residents.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SCALABILITY &amp; GOVERNMENT POLICY ALIGNMENT</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10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Government Alignment &amp; Mandates</a:t>
            </a:r>
          </a:p>
        </p:txBody>
      </p:sp>
      <p:sp>
        <p:nvSpPr>
          <p:cNvPr id="12" name="TextBox 11"/>
          <p:cNvSpPr txBox="1"/>
          <p:nvPr/>
        </p:nvSpPr>
        <p:spPr>
          <a:xfrm>
            <a:off x="868680" y="1828800"/>
            <a:ext cx="4846320" cy="4069080"/>
          </a:xfrm>
          <a:prstGeom prst="rect">
            <a:avLst/>
          </a:prstGeom>
          <a:noFill/>
        </p:spPr>
        <p:txBody>
          <a:bodyPr wrap="square">
            <a:spAutoFit/>
          </a:bodyPr>
          <a:lstStyle/>
          <a:p>
            <a:pPr>
              <a:defRPr sz="1300" b="1">
                <a:solidFill>
                  <a:srgbClr val="0F172A"/>
                </a:solidFill>
              </a:defRPr>
            </a:pPr>
            <a:r>
              <a:t>1. Jal Jeevan Mission (Har Ghar Jal):</a:t>
            </a:r>
          </a:p>
          <a:p>
            <a:pPr>
              <a:spcAft>
                <a:spcPts val="1000"/>
              </a:spcAft>
              <a:defRPr sz="1100">
                <a:solidFill>
                  <a:srgbClr val="475569"/>
                </a:solidFill>
              </a:defRPr>
            </a:pPr>
            <a:r>
              <a:t>Bridges the crucial 'Intermittent Delivery Deficit' when piped water infrastructure experiences source dry-up or seasonal aquifer failure.</a:t>
            </a:r>
          </a:p>
          <a:p>
            <a:pPr>
              <a:defRPr sz="1300" b="1">
                <a:solidFill>
                  <a:srgbClr val="0F172A"/>
                </a:solidFill>
              </a:defRPr>
            </a:pPr>
            <a:r>
              <a:t>2. Disaster Management Act (2005):</a:t>
            </a:r>
          </a:p>
          <a:p>
            <a:pPr>
              <a:spcAft>
                <a:spcPts val="1000"/>
              </a:spcAft>
              <a:defRPr sz="1100">
                <a:solidFill>
                  <a:srgbClr val="475569"/>
                </a:solidFill>
              </a:defRPr>
            </a:pPr>
            <a:r>
              <a:t>Digitally enforces District Collector statutory powers under Section 34, automating emergency resource requisition and audit clearance.</a:t>
            </a:r>
          </a:p>
          <a:p>
            <a:pPr>
              <a:defRPr sz="1300" b="1">
                <a:solidFill>
                  <a:srgbClr val="0F172A"/>
                </a:solidFill>
              </a:defRPr>
            </a:pPr>
            <a:r>
              <a:t>3. BIS IS-10500 Drinking Water Standards:</a:t>
            </a:r>
          </a:p>
          <a:p>
            <a:pPr>
              <a:defRPr sz="1100">
                <a:solidFill>
                  <a:srgbClr val="475569"/>
                </a:solidFill>
              </a:defRPr>
            </a:pPr>
            <a:r>
              <a:t>Every tanker release requires laboratory potability clearance (Turbidity &lt; 1 NTU, Free Residual Chlorine 0.2 - 0.5 ppm) logged in the manifest.</a:t>
            </a:r>
          </a:p>
        </p:txBody>
      </p:sp>
      <p:sp>
        <p:nvSpPr>
          <p:cNvPr id="13" name="Rounded Rectangle 12"/>
          <p:cNvSpPr/>
          <p:nvPr/>
        </p:nvSpPr>
        <p:spPr>
          <a:xfrm>
            <a:off x="6217920" y="1188720"/>
            <a:ext cx="539496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Track-3-01 Multi-Sector Extensibility</a:t>
            </a:r>
          </a:p>
        </p:txBody>
      </p:sp>
      <p:sp>
        <p:nvSpPr>
          <p:cNvPr id="16" name="TextBox 15"/>
          <p:cNvSpPr txBox="1"/>
          <p:nvPr/>
        </p:nvSpPr>
        <p:spPr>
          <a:xfrm>
            <a:off x="6537960" y="1828800"/>
            <a:ext cx="4937760" cy="4069080"/>
          </a:xfrm>
          <a:prstGeom prst="rect">
            <a:avLst/>
          </a:prstGeom>
          <a:noFill/>
        </p:spPr>
        <p:txBody>
          <a:bodyPr wrap="square">
            <a:spAutoFit/>
          </a:bodyPr>
          <a:lstStyle/>
          <a:p>
            <a:pPr>
              <a:spcAft>
                <a:spcPts val="800"/>
              </a:spcAft>
              <a:defRPr sz="1300" b="1">
                <a:solidFill>
                  <a:srgbClr val="148F77"/>
                </a:solidFill>
              </a:defRPr>
            </a:pPr>
            <a:r>
              <a:t>Campuses, Towns &amp; Small Industries:</a:t>
            </a:r>
          </a:p>
          <a:p>
            <a:pPr>
              <a:defRPr sz="1200" b="1">
                <a:solidFill>
                  <a:srgbClr val="0F172A"/>
                </a:solidFill>
              </a:defRPr>
            </a:pPr>
            <a:r>
              <a:t>• Educational &amp; University Campuses:</a:t>
            </a:r>
          </a:p>
          <a:p>
            <a:pPr>
              <a:spcAft>
                <a:spcPts val="800"/>
              </a:spcAft>
              <a:defRPr sz="1100">
                <a:solidFill>
                  <a:srgbClr val="475569"/>
                </a:solidFill>
              </a:defRPr>
            </a:pPr>
            <a:r>
              <a:t>Rationing student hostels, clinic reserves, and laboratory quotas with automated shutoffs on low-priority lawns during municipal water cuts.</a:t>
            </a:r>
          </a:p>
          <a:p>
            <a:pPr>
              <a:defRPr sz="1200" b="1">
                <a:solidFill>
                  <a:srgbClr val="0F172A"/>
                </a:solidFill>
              </a:defRPr>
            </a:pPr>
            <a:r>
              <a:t>• Municipal Towns &amp; Nagar Panchayats:</a:t>
            </a:r>
          </a:p>
          <a:p>
            <a:pPr>
              <a:spcAft>
                <a:spcPts val="800"/>
              </a:spcAft>
              <a:defRPr sz="1100">
                <a:solidFill>
                  <a:srgbClr val="475569"/>
                </a:solidFill>
              </a:defRPr>
            </a:pPr>
            <a:r>
              <a:t>Telemetry monitoring of bulk distribution pipelines, detecting illegal bypass tappings and equalizing pressure across peripheral wards.</a:t>
            </a:r>
          </a:p>
          <a:p>
            <a:pPr>
              <a:defRPr sz="1200" b="1">
                <a:solidFill>
                  <a:srgbClr val="0F172A"/>
                </a:solidFill>
              </a:defRPr>
            </a:pPr>
            <a:r>
              <a:t>• Small &amp; MSME Industrial Estates (MIDC):</a:t>
            </a:r>
          </a:p>
          <a:p>
            <a:pPr>
              <a:defRPr sz="1100">
                <a:solidFill>
                  <a:srgbClr val="475569"/>
                </a:solidFill>
              </a:defRPr>
            </a:pPr>
            <a:r>
              <a:t>Tier 2 commercial industrial quotas enforced to prevent MSMEs from depriving Tier 1 residential drinking supplies during summer droughts.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TECHNOLOGY STACK &amp; SECURITY ARCHITECTURE</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11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3017520" cy="457200"/>
          </a:xfrm>
          <a:prstGeom prst="rect">
            <a:avLst/>
          </a:prstGeom>
          <a:noFill/>
        </p:spPr>
        <p:txBody>
          <a:bodyPr wrap="square">
            <a:spAutoFit/>
          </a:bodyPr>
          <a:lstStyle/>
          <a:p>
            <a:pPr>
              <a:defRPr sz="1500" b="1">
                <a:solidFill>
                  <a:srgbClr val="0F172A"/>
                </a:solidFill>
                <a:latin typeface="Arial"/>
              </a:defRPr>
            </a:pPr>
            <a:r>
              <a:t>Frontend &amp; Edge PWA</a:t>
            </a:r>
          </a:p>
        </p:txBody>
      </p:sp>
      <p:sp>
        <p:nvSpPr>
          <p:cNvPr id="12" name="TextBox 11"/>
          <p:cNvSpPr txBox="1"/>
          <p:nvPr/>
        </p:nvSpPr>
        <p:spPr>
          <a:xfrm>
            <a:off x="868680" y="1828800"/>
            <a:ext cx="3017520" cy="4069080"/>
          </a:xfrm>
          <a:prstGeom prst="rect">
            <a:avLst/>
          </a:prstGeom>
          <a:noFill/>
        </p:spPr>
        <p:txBody>
          <a:bodyPr wrap="square">
            <a:spAutoFit/>
          </a:bodyPr>
          <a:lstStyle/>
          <a:p>
            <a:pPr>
              <a:spcAft>
                <a:spcPts val="800"/>
              </a:spcAft>
              <a:defRPr sz="1100">
                <a:solidFill>
                  <a:srgbClr val="0F172A"/>
                </a:solidFill>
              </a:defRPr>
            </a:pPr>
            <a:r>
              <a:t>• Core Technologies:</a:t>
            </a:r>
            <a:br/>
            <a:r>
              <a:t>HTML5, Vanilla CSS Design System, Modular JavaScript (ES6+).</a:t>
            </a:r>
          </a:p>
          <a:p>
            <a:pPr>
              <a:spcAft>
                <a:spcPts val="800"/>
              </a:spcAft>
              <a:defRPr sz="1100">
                <a:solidFill>
                  <a:srgbClr val="475569"/>
                </a:solidFill>
              </a:defRPr>
            </a:pPr>
            <a:r>
              <a:t>• Offline-First Service Worker:</a:t>
            </a:r>
            <a:br/>
            <a:r>
              <a:t>Full PWA caching enables Sarpanch QR scanning and driver logging even in remote zero-network zones.</a:t>
            </a:r>
          </a:p>
          <a:p>
            <a:pPr>
              <a:defRPr sz="1100">
                <a:solidFill>
                  <a:srgbClr val="475569"/>
                </a:solidFill>
              </a:defRPr>
            </a:pPr>
            <a:r>
              <a:t>• Geospatial Visualizer:</a:t>
            </a:r>
            <a:br/>
            <a:r>
              <a:t>Leaflet.js + Carto Voyager Tiles with 16 traced OSRM highway circuits.</a:t>
            </a:r>
          </a:p>
        </p:txBody>
      </p:sp>
      <p:sp>
        <p:nvSpPr>
          <p:cNvPr id="13" name="Rounded Rectangle 12"/>
          <p:cNvSpPr/>
          <p:nvPr/>
        </p:nvSpPr>
        <p:spPr>
          <a:xfrm>
            <a:off x="434340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1655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663440" y="1371600"/>
            <a:ext cx="3017520" cy="457200"/>
          </a:xfrm>
          <a:prstGeom prst="rect">
            <a:avLst/>
          </a:prstGeom>
          <a:noFill/>
        </p:spPr>
        <p:txBody>
          <a:bodyPr wrap="square">
            <a:spAutoFit/>
          </a:bodyPr>
          <a:lstStyle/>
          <a:p>
            <a:pPr>
              <a:defRPr sz="1500" b="1">
                <a:solidFill>
                  <a:srgbClr val="0F172A"/>
                </a:solidFill>
                <a:latin typeface="Arial"/>
              </a:defRPr>
            </a:pPr>
            <a:r>
              <a:t>FastAPI &amp; OR-Tools</a:t>
            </a:r>
          </a:p>
        </p:txBody>
      </p:sp>
      <p:sp>
        <p:nvSpPr>
          <p:cNvPr id="16" name="TextBox 15"/>
          <p:cNvSpPr txBox="1"/>
          <p:nvPr/>
        </p:nvSpPr>
        <p:spPr>
          <a:xfrm>
            <a:off x="4663440" y="1828800"/>
            <a:ext cx="3017520" cy="4069080"/>
          </a:xfrm>
          <a:prstGeom prst="rect">
            <a:avLst/>
          </a:prstGeom>
          <a:noFill/>
        </p:spPr>
        <p:txBody>
          <a:bodyPr wrap="square">
            <a:spAutoFit/>
          </a:bodyPr>
          <a:lstStyle/>
          <a:p>
            <a:pPr>
              <a:spcAft>
                <a:spcPts val="800"/>
              </a:spcAft>
              <a:defRPr sz="1100">
                <a:solidFill>
                  <a:srgbClr val="0F172A"/>
                </a:solidFill>
              </a:defRPr>
            </a:pPr>
            <a:r>
              <a:t>• High-Throughput REST Engine:</a:t>
            </a:r>
            <a:br/>
            <a:r>
              <a:t>Python FastAPI with 33 modular endpoints and sub-35ms response latency.</a:t>
            </a:r>
          </a:p>
          <a:p>
            <a:pPr>
              <a:spcAft>
                <a:spcPts val="800"/>
              </a:spcAft>
              <a:defRPr sz="1100">
                <a:solidFill>
                  <a:srgbClr val="475569"/>
                </a:solidFill>
              </a:defRPr>
            </a:pPr>
            <a:r>
              <a:t>• Google OR-Tools Routing:</a:t>
            </a:r>
            <a:br/>
            <a:r>
              <a:t>Multi-depot, multi-vehicle routing solver with capacity and time-window penalties.</a:t>
            </a:r>
          </a:p>
          <a:p>
            <a:pPr>
              <a:defRPr sz="1100">
                <a:solidFill>
                  <a:srgbClr val="475569"/>
                </a:solidFill>
              </a:defRPr>
            </a:pPr>
            <a:r>
              <a:t>• Cryptographic Security:</a:t>
            </a:r>
            <a:br/>
            <a:r>
              <a:t>Web Crypto API SubtleCrypto for client HMAC-SHA256 and bcrypt token hashing.</a:t>
            </a:r>
          </a:p>
        </p:txBody>
      </p:sp>
      <p:sp>
        <p:nvSpPr>
          <p:cNvPr id="17" name="Rounded Rectangle 16"/>
          <p:cNvSpPr/>
          <p:nvPr/>
        </p:nvSpPr>
        <p:spPr>
          <a:xfrm>
            <a:off x="8138160" y="1188720"/>
            <a:ext cx="34747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11312" y="1371600"/>
            <a:ext cx="73152" cy="4480560"/>
          </a:xfrm>
          <a:prstGeom prst="round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58200" y="1371600"/>
            <a:ext cx="3017520" cy="457200"/>
          </a:xfrm>
          <a:prstGeom prst="rect">
            <a:avLst/>
          </a:prstGeom>
          <a:noFill/>
        </p:spPr>
        <p:txBody>
          <a:bodyPr wrap="square">
            <a:spAutoFit/>
          </a:bodyPr>
          <a:lstStyle/>
          <a:p>
            <a:pPr>
              <a:defRPr sz="1500" b="1">
                <a:solidFill>
                  <a:srgbClr val="0F172A"/>
                </a:solidFill>
                <a:latin typeface="Arial"/>
              </a:defRPr>
            </a:pPr>
            <a:r>
              <a:t>Database &amp; Governance</a:t>
            </a:r>
          </a:p>
        </p:txBody>
      </p:sp>
      <p:sp>
        <p:nvSpPr>
          <p:cNvPr id="20" name="TextBox 19"/>
          <p:cNvSpPr txBox="1"/>
          <p:nvPr/>
        </p:nvSpPr>
        <p:spPr>
          <a:xfrm>
            <a:off x="8458200" y="1828800"/>
            <a:ext cx="3017520" cy="4069080"/>
          </a:xfrm>
          <a:prstGeom prst="rect">
            <a:avLst/>
          </a:prstGeom>
          <a:noFill/>
        </p:spPr>
        <p:txBody>
          <a:bodyPr wrap="square">
            <a:spAutoFit/>
          </a:bodyPr>
          <a:lstStyle/>
          <a:p>
            <a:pPr>
              <a:spcAft>
                <a:spcPts val="800"/>
              </a:spcAft>
              <a:defRPr sz="1100">
                <a:solidFill>
                  <a:srgbClr val="0F172A"/>
                </a:solidFill>
              </a:defRPr>
            </a:pPr>
            <a:r>
              <a:t>• Sovereign Data Ledger:</a:t>
            </a:r>
            <a:br/>
            <a:r>
              <a:t>Supabase PostgreSQL with Row Level Security (RLS) and real-time triggers.</a:t>
            </a:r>
          </a:p>
          <a:p>
            <a:pPr>
              <a:spcAft>
                <a:spcPts val="800"/>
              </a:spcAft>
              <a:defRPr sz="1100">
                <a:solidFill>
                  <a:srgbClr val="475569"/>
                </a:solidFill>
              </a:defRPr>
            </a:pPr>
            <a:r>
              <a:t>• Cross-Tab Event Bus:</a:t>
            </a:r>
            <a:br/>
            <a:r>
              <a:t>BroadcastChannel ('jalsanchar_triparty_bus') for instant sub-15ms tab syncing.</a:t>
            </a:r>
          </a:p>
          <a:p>
            <a:pPr>
              <a:defRPr sz="1100">
                <a:solidFill>
                  <a:srgbClr val="475569"/>
                </a:solidFill>
              </a:defRPr>
            </a:pPr>
            <a:r>
              <a:t>• Statutory Audit Clearance:</a:t>
            </a:r>
            <a:br/>
            <a:r>
              <a:t>Cryptographic export manifest with SHA-256 signature for State Treasury scrutiny.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86868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645920" y="164592"/>
            <a:ext cx="8686800" cy="548640"/>
          </a:xfrm>
          <a:prstGeom prst="rect">
            <a:avLst/>
          </a:prstGeom>
          <a:noFill/>
        </p:spPr>
        <p:txBody>
          <a:bodyPr wrap="square">
            <a:spAutoFit/>
          </a:bodyPr>
          <a:lstStyle/>
          <a:p>
            <a:pPr algn="ctr">
              <a:defRPr sz="2000" b="1">
                <a:solidFill>
                  <a:srgbClr val="FFFFFF"/>
                </a:solidFill>
                <a:latin typeface="Arial"/>
              </a:defRPr>
            </a:pPr>
            <a:r>
              <a:t>TEAM VISION 2030 &amp; FUTURE ROADMAP</a:t>
            </a:r>
          </a:p>
        </p:txBody>
      </p:sp>
      <p:sp>
        <p:nvSpPr>
          <p:cNvPr id="4" name="TextBox 3"/>
          <p:cNvSpPr txBox="1"/>
          <p:nvPr/>
        </p:nvSpPr>
        <p:spPr>
          <a:xfrm>
            <a:off x="10515600" y="201168"/>
            <a:ext cx="1371600" cy="457200"/>
          </a:xfrm>
          <a:prstGeom prst="rect">
            <a:avLst/>
          </a:prstGeom>
          <a:noFill/>
        </p:spPr>
        <p:txBody>
          <a:bodyPr wrap="none">
            <a:spAutoFit/>
          </a:bodyPr>
          <a:lstStyle/>
          <a:p>
            <a:pPr algn="r">
              <a:defRPr sz="1300" b="1">
                <a:solidFill>
                  <a:srgbClr val="F5A623"/>
                </a:solidFill>
                <a:latin typeface="Arial"/>
              </a:defRPr>
            </a:pPr>
            <a:r>
              <a:t>12 / 12</a:t>
            </a:r>
          </a:p>
        </p:txBody>
      </p:sp>
      <p:sp>
        <p:nvSpPr>
          <p:cNvPr id="5" name="TextBox 4"/>
          <p:cNvSpPr txBox="1"/>
          <p:nvPr/>
        </p:nvSpPr>
        <p:spPr>
          <a:xfrm>
            <a:off x="365760" y="109728"/>
            <a:ext cx="1188720" cy="640080"/>
          </a:xfrm>
          <a:prstGeom prst="rect">
            <a:avLst/>
          </a:prstGeom>
          <a:noFill/>
        </p:spPr>
        <p:txBody>
          <a:bodyPr wrap="none">
            <a:spAutoFit/>
          </a:bodyPr>
          <a:lstStyle/>
          <a:p>
            <a:pPr>
              <a:defRPr sz="1300" b="1">
                <a:solidFill>
                  <a:srgbClr val="FFFFFF"/>
                </a:solidFill>
                <a:latin typeface="Arial"/>
              </a:defRPr>
            </a:pPr>
            <a:r>
              <a:t>MCERC</a:t>
            </a:r>
          </a:p>
          <a:p>
            <a:pPr>
              <a:defRPr sz="900">
                <a:solidFill>
                  <a:srgbClr val="F5A623"/>
                </a:solidFill>
              </a:defRPr>
            </a:pPr>
            <a:r>
              <a:t>NASHIK</a:t>
            </a:r>
          </a:p>
        </p:txBody>
      </p:sp>
      <p:sp>
        <p:nvSpPr>
          <p:cNvPr id="6" name="Rectangle 5"/>
          <p:cNvSpPr/>
          <p:nvPr/>
        </p:nvSpPr>
        <p:spPr>
          <a:xfrm>
            <a:off x="548640" y="6327648"/>
            <a:ext cx="1109441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6364224"/>
            <a:ext cx="7772400" cy="411480"/>
          </a:xfrm>
          <a:prstGeom prst="rect">
            <a:avLst/>
          </a:prstGeom>
          <a:noFill/>
        </p:spPr>
        <p:txBody>
          <a:bodyPr wrap="none">
            <a:spAutoFit/>
          </a:bodyPr>
          <a:lstStyle/>
          <a:p>
            <a:pPr algn="ctr">
              <a:defRPr sz="1100" b="1">
                <a:solidFill>
                  <a:srgbClr val="0B2545"/>
                </a:solidFill>
                <a:latin typeface="Arial"/>
              </a:defRPr>
            </a:pPr>
            <a:r>
              <a:t>PRAGYAN 2K26 | SANJIVANI UNIVERSITY</a:t>
            </a:r>
          </a:p>
        </p:txBody>
      </p:sp>
      <p:sp>
        <p:nvSpPr>
          <p:cNvPr id="8" name="TextBox 7"/>
          <p:cNvSpPr txBox="1"/>
          <p:nvPr/>
        </p:nvSpPr>
        <p:spPr>
          <a:xfrm>
            <a:off x="9875520" y="6345936"/>
            <a:ext cx="2011680" cy="411480"/>
          </a:xfrm>
          <a:prstGeom prst="rect">
            <a:avLst/>
          </a:prstGeom>
          <a:noFill/>
        </p:spPr>
        <p:txBody>
          <a:bodyPr wrap="none">
            <a:spAutoFit/>
          </a:bodyPr>
          <a:lstStyle/>
          <a:p>
            <a:pPr algn="r">
              <a:defRPr sz="1100" b="1">
                <a:solidFill>
                  <a:srgbClr val="F5A623"/>
                </a:solidFill>
                <a:latin typeface="Arial"/>
              </a:defRPr>
            </a:pPr>
            <a:r>
              <a:t>PRAGYAN 2K26</a:t>
            </a:r>
          </a:p>
        </p:txBody>
      </p:sp>
      <p:sp>
        <p:nvSpPr>
          <p:cNvPr id="9" name="Rounded Rectangle 8"/>
          <p:cNvSpPr/>
          <p:nvPr/>
        </p:nvSpPr>
        <p:spPr>
          <a:xfrm>
            <a:off x="548640" y="1188720"/>
            <a:ext cx="530352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21792" y="1371600"/>
            <a:ext cx="73152" cy="4480560"/>
          </a:xfrm>
          <a:prstGeom prst="roundRect">
            <a:avLst/>
          </a:prstGeom>
          <a:solidFill>
            <a:srgbClr val="148F7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371600"/>
            <a:ext cx="4846320" cy="457200"/>
          </a:xfrm>
          <a:prstGeom prst="rect">
            <a:avLst/>
          </a:prstGeom>
          <a:noFill/>
        </p:spPr>
        <p:txBody>
          <a:bodyPr wrap="square">
            <a:spAutoFit/>
          </a:bodyPr>
          <a:lstStyle/>
          <a:p>
            <a:pPr>
              <a:defRPr sz="1500" b="1">
                <a:solidFill>
                  <a:srgbClr val="0F172A"/>
                </a:solidFill>
                <a:latin typeface="Arial"/>
              </a:defRPr>
            </a:pPr>
            <a:r>
              <a:t>Team Identity &amp; Vision</a:t>
            </a:r>
          </a:p>
        </p:txBody>
      </p:sp>
      <p:sp>
        <p:nvSpPr>
          <p:cNvPr id="12" name="TextBox 11"/>
          <p:cNvSpPr txBox="1"/>
          <p:nvPr/>
        </p:nvSpPr>
        <p:spPr>
          <a:xfrm>
            <a:off x="868680" y="1828800"/>
            <a:ext cx="4846320" cy="4069080"/>
          </a:xfrm>
          <a:prstGeom prst="rect">
            <a:avLst/>
          </a:prstGeom>
          <a:noFill/>
        </p:spPr>
        <p:txBody>
          <a:bodyPr wrap="square">
            <a:spAutoFit/>
          </a:bodyPr>
          <a:lstStyle/>
          <a:p>
            <a:pPr>
              <a:spcAft>
                <a:spcPts val="400"/>
              </a:spcAft>
              <a:defRPr sz="1400" b="1">
                <a:solidFill>
                  <a:srgbClr val="148F77"/>
                </a:solidFill>
              </a:defRPr>
            </a:pPr>
            <a:r>
              <a:t>Team Vision 2030 (Team ID: 8E1986)</a:t>
            </a:r>
          </a:p>
          <a:p>
            <a:pPr>
              <a:spcAft>
                <a:spcPts val="1400"/>
              </a:spcAft>
              <a:defRPr sz="1200" b="1">
                <a:solidFill>
                  <a:srgbClr val="0F172A"/>
                </a:solidFill>
              </a:defRPr>
            </a:pPr>
            <a:r>
              <a:t>Matoshri College Of Engineering and Research Centre, Nashik</a:t>
            </a:r>
          </a:p>
          <a:p>
            <a:pPr>
              <a:defRPr sz="1300" b="1">
                <a:solidFill>
                  <a:srgbClr val="0B2545"/>
                </a:solidFill>
              </a:defRPr>
            </a:pPr>
            <a:r>
              <a:t>Our Core Conviction:</a:t>
            </a:r>
          </a:p>
          <a:p>
            <a:pPr>
              <a:spcAft>
                <a:spcPts val="1400"/>
              </a:spcAft>
              <a:defRPr sz="1100" i="1">
                <a:solidFill>
                  <a:srgbClr val="475569"/>
                </a:solidFill>
              </a:defRPr>
            </a:pPr>
            <a:r>
              <a:t>"Water is not merely a logistical commodity — it is a constitutional guarantee under Article 21. By pairing predictive satellite AI with mathematical route optimization and cryptographic escrow, JalSanchar proves that corruption and diversion can be permanently eradicated from public drought relief."</a:t>
            </a:r>
          </a:p>
          <a:p>
            <a:pPr>
              <a:defRPr sz="1200" b="1">
                <a:solidFill>
                  <a:srgbClr val="0F172A"/>
                </a:solidFill>
              </a:defRPr>
            </a:pPr>
            <a:r>
              <a:t>Live Deployments:</a:t>
            </a:r>
          </a:p>
          <a:p>
            <a:pPr>
              <a:defRPr sz="1100">
                <a:solidFill>
                  <a:srgbClr val="148F77"/>
                </a:solidFill>
              </a:defRPr>
            </a:pPr>
            <a:r>
              <a:t>• Web Portal: https://jalsanchar.vercel.app</a:t>
            </a:r>
            <a:br/>
            <a:r>
              <a:t>• API Backend: https://jalsanchar.onrender.com</a:t>
            </a:r>
            <a:br/>
            <a:r>
              <a:t>• Source Code: GitHub / RushalBangar / JalSanchar</a:t>
            </a:r>
          </a:p>
        </p:txBody>
      </p:sp>
      <p:sp>
        <p:nvSpPr>
          <p:cNvPr id="13" name="Rounded Rectangle 12"/>
          <p:cNvSpPr/>
          <p:nvPr/>
        </p:nvSpPr>
        <p:spPr>
          <a:xfrm>
            <a:off x="6217920" y="1188720"/>
            <a:ext cx="5394960" cy="4846320"/>
          </a:xfrm>
          <a:prstGeom prst="roundRect">
            <a:avLst/>
          </a:prstGeom>
          <a:solidFill>
            <a:srgbClr val="F8FAFC"/>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91072" y="1371600"/>
            <a:ext cx="73152" cy="4480560"/>
          </a:xfrm>
          <a:prstGeom prst="roundRect">
            <a:avLst/>
          </a:prstGeom>
          <a:solidFill>
            <a:srgbClr val="F5A62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37960" y="1371600"/>
            <a:ext cx="4937760" cy="457200"/>
          </a:xfrm>
          <a:prstGeom prst="rect">
            <a:avLst/>
          </a:prstGeom>
          <a:noFill/>
        </p:spPr>
        <p:txBody>
          <a:bodyPr wrap="square">
            <a:spAutoFit/>
          </a:bodyPr>
          <a:lstStyle/>
          <a:p>
            <a:pPr>
              <a:defRPr sz="1500" b="1">
                <a:solidFill>
                  <a:srgbClr val="0F172A"/>
                </a:solidFill>
                <a:latin typeface="Arial"/>
              </a:defRPr>
            </a:pPr>
            <a:r>
              <a:t>Strategic Deployment Roadmap</a:t>
            </a:r>
          </a:p>
        </p:txBody>
      </p:sp>
      <p:sp>
        <p:nvSpPr>
          <p:cNvPr id="16" name="TextBox 15"/>
          <p:cNvSpPr txBox="1"/>
          <p:nvPr/>
        </p:nvSpPr>
        <p:spPr>
          <a:xfrm>
            <a:off x="6537960" y="1828800"/>
            <a:ext cx="4937760" cy="4069080"/>
          </a:xfrm>
          <a:prstGeom prst="rect">
            <a:avLst/>
          </a:prstGeom>
          <a:noFill/>
        </p:spPr>
        <p:txBody>
          <a:bodyPr wrap="square">
            <a:spAutoFit/>
          </a:bodyPr>
          <a:lstStyle/>
          <a:p>
            <a:pPr>
              <a:defRPr sz="1200" b="1">
                <a:solidFill>
                  <a:srgbClr val="27AE60"/>
                </a:solidFill>
              </a:defRPr>
            </a:pPr>
            <a:r>
              <a:t>Phase 1: Working Prototype (COMPLETED ✓)</a:t>
            </a:r>
          </a:p>
          <a:p>
            <a:pPr>
              <a:spcAft>
                <a:spcPts val="800"/>
              </a:spcAft>
              <a:defRPr sz="1100">
                <a:solidFill>
                  <a:srgbClr val="475569"/>
                </a:solidFill>
              </a:defRPr>
            </a:pPr>
            <a:r>
              <a:t>14-day telemetry forecasting, OR-Tools CVRP routing, and dual-key QR attestation validated across 8 Sinnar villages.</a:t>
            </a:r>
          </a:p>
          <a:p>
            <a:pPr>
              <a:defRPr sz="1200" b="1">
                <a:solidFill>
                  <a:srgbClr val="F5A623"/>
                </a:solidFill>
              </a:defRPr>
            </a:pPr>
            <a:r>
              <a:t>Phase 2: Hardware IoT Sensor Nodes (Months 1 - 3)</a:t>
            </a:r>
          </a:p>
          <a:p>
            <a:pPr>
              <a:spcAft>
                <a:spcPts val="800"/>
              </a:spcAft>
              <a:defRPr sz="1100">
                <a:solidFill>
                  <a:srgbClr val="475569"/>
                </a:solidFill>
              </a:defRPr>
            </a:pPr>
            <a:r>
              <a:t>Deploying sub-₹1,200 solar-powered LoRaWAN ultrasonic depth sensors on rural GLSR community cisterns.</a:t>
            </a:r>
          </a:p>
          <a:p>
            <a:pPr>
              <a:defRPr sz="1200" b="1">
                <a:solidFill>
                  <a:srgbClr val="00A896"/>
                </a:solidFill>
              </a:defRPr>
            </a:pPr>
            <a:r>
              <a:t>Phase 3: District Command Center Integration (Months 4 - 6)</a:t>
            </a:r>
          </a:p>
          <a:p>
            <a:pPr>
              <a:spcAft>
                <a:spcPts val="800"/>
              </a:spcAft>
              <a:defRPr sz="1100">
                <a:solidFill>
                  <a:srgbClr val="475569"/>
                </a:solidFill>
              </a:defRPr>
            </a:pPr>
            <a:r>
              <a:t>Integrating with Maharashtra State Disaster Management Authority (SDMA) and automated SMS alerts for rural feature phones.</a:t>
            </a:r>
          </a:p>
          <a:p>
            <a:pPr>
              <a:defRPr sz="1400" b="1">
                <a:solidFill>
                  <a:srgbClr val="0B2545"/>
                </a:solidFill>
              </a:defRPr>
            </a:pPr>
            <a:r>
              <a:t>Thank You! Questions &amp; Answers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
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 SLIDE 1 (TITLE):</a:t>
            </a:r>
          </a:p>
          <a:p>
            <a:r>
              <a:t>Welcome everyone. Today we are presenting JalSanjeevani—a sovereign digital governance and smart logistics platform built specifically for drought-prone regions in Maharashtra, such as Ahilyanagar and Sinnar.</a:t>
            </a:r>
          </a:p>
          <a:p/>
          <a:p>
            <a:r>
              <a:t>Historically, drought relief operations suffer from two fatal failures: administration acts reactively only after aquifers dry up, and over 22% of subsidized water is diverted mid-transit by cartels known as the tanker mafia. JalSanjeevani solves this end-to-end with a 3-pillar framework connecting satellite observation, mathematical route optimization, and cryptographic proof-of-delivery tied directly to state treasury disbursements.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 SLIDE 2 (PROBLEM):</a:t>
            </a:r>
          </a:p>
          <a:p>
            <a:r>
              <a:t>Let's look at the harsh reality on the ground in drought zones like Sinnar. When summer hits, groundwater extraction crosses 120%.</a:t>
            </a:r>
          </a:p>
          <a:p/>
          <a:p>
            <a:r>
              <a:t>Communities face three compounding bottlenecks: First, information blindness—the district administration only knows a village is dry when paper petitions reach the Collector's desk days too late. Second, the Tanker Mafia—over 22% of subsidized municipal water is siphoned off mid-route to private construction sites and vineyards while villagers go thirsty. Third, chaos in logistics—tankers crisscross inefficiently, burning diesel while marginalized hamlets are skipped.</a:t>
            </a:r>
          </a:p>
          <a:p/>
          <a:p>
            <a:r>
              <a:t>Under Article 21, clean water is a fundamental right. When water is siphoned, citizens are forced to buy their own water back from cartels. We set out to engineer a bulletproof technological solution.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 SLIDE 3 (SOLUTION FRAMEWORK):</a:t>
            </a:r>
          </a:p>
          <a:p>
            <a:r>
              <a:t>JalSanjeevani answers this crisis through three deeply integrated pillars:</a:t>
            </a:r>
          </a:p>
          <a:p/>
          <a:p>
            <a:r>
              <a:t>Pillar 1 transforms governance from reactive firefighting to predictive early warning. Using NASA SMAP and Copernicus satellites, we model groundwater depletion curves 14 days ahead, alerting the District Collector before wells go dry.</a:t>
            </a:r>
          </a:p>
          <a:p/>
          <a:p>
            <a:r>
              <a:t>Pillar 2 replaces political or ad-hoc routing with Google OR-Tools. It mathematically calculates optimal relief circuits departing from major water headworks, guaranteeing mandatory per-capita quotas (40L for humans, 70L for cattle) while slashing 28.4% fuel waste.</a:t>
            </a:r>
          </a:p>
          <a:p/>
          <a:p>
            <a:r>
              <a:t>Pillar 3 eliminates the tanker mafia at the financial root: No Proof, No Bill Payment. Government contractor payouts are locked in smart escrow, cleared only when a dual-key cryptographic proof is verified inside a 100-meter cistern geofence.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 SLIDE 4 (DIFFERENTIATION):</a:t>
            </a:r>
          </a:p>
          <a:p>
            <a:r>
              <a:t>A common question we get: 'Why not just put commercial GPS trackers on tankers?'</a:t>
            </a:r>
          </a:p>
          <a:p/>
          <a:p>
            <a:r>
              <a:t>Here is why commercial solutions fail in government drought enforcement: In the field, drivers simply unplug GPS fuses, claim bad network, or screenshot static QR codes and forward them on WhatsApp to colluding contractors. Crucially, commercial fleet tools have zero connection to government finance departments.</a:t>
            </a:r>
          </a:p>
          <a:p/>
          <a:p>
            <a:r>
              <a:t>JalSanjeevani is fundamentally different: We introduce State Treasury Escrow. No proof, no bill payment. We use dynamic HMAC-SHA256 tokens that rotate every 60 seconds, dual-factor geofencing requiring both the tanker's GPS and the village Sarpanch's device GPS to be within 100 meters, and an offline IndexedDB sync that works even in connectivity dead zones.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 SLIDE 5 (CRYPTOGRAPHY &amp; ESCROW):</a:t>
            </a:r>
          </a:p>
          <a:p>
            <a:r>
              <a:t>Let's look at how the Dual-Key Handshake works step by step in the field.</a:t>
            </a:r>
          </a:p>
          <a:p/>
          <a:p>
            <a:r>
              <a:t>When a municipal tanker arrives at a village cistern, the driver opens the PWA Cockpit. The app generates a dynamic rolling QR code containing the tanker ID, GPS coordinates, timestamp, and a single-use cryptographic nonce signed with HMAC-SHA256. This token rotates every 60 seconds and is valid for a maximum of 10 minutes.</a:t>
            </a:r>
          </a:p>
          <a:p/>
          <a:p>
            <a:r>
              <a:t>The Gram Panchayat verifier—such as the Sarpanch or water committee head—scans this QR code using their browser camera. The verifier PWA checks three things: first, that the verifier's own GPS is within 100 meters of the registered cistern; second, that the nonce hasn't been used before; and third, that the signature is valid. Once attested, the state escrow unlocks payment to the contractor. If a tanker diverts off-route, escrow freezes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 SLIDE 6 (LOGISTICS OPTIMIZATION):</a:t>
            </a:r>
          </a:p>
          <a:p>
            <a:r>
              <a:t>Turning to Pillar 2: Logistics optimization.</a:t>
            </a:r>
          </a:p>
          <a:p/>
          <a:p>
            <a:r>
              <a:t>In typical relief operations, tanker dispatch is driven by paper requests and local political pull, resulting in tankers crisscrossing each other and burning taxpayer money on empty kilometers while remote tribal hamlets get completely ignored.</a:t>
            </a:r>
          </a:p>
          <a:p/>
          <a:p>
            <a:r>
              <a:t>We formulated this as a Capacitated Vehicle Routing Problem (CVRP) solved via Google OR-Tools. The solver departs tankers from municipal headworks, accounts for vehicle capacities—5,000 to 12,000 liters—road conditions, and cistern urgency. The results speak for themselves: a 28.4% reduction in fleet diesel costs, 100% fulfillment of statutory water quotas—40 liters per human and 70 liters per cattle head—and zero skipped hamlets.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 SLIDE 7 (OPERATIONAL CONSOLES):</a:t>
            </a:r>
          </a:p>
          <a:p>
            <a:r>
              <a:t>Technology only works if people in the field can actually use it without friction. JalSanjeevani provides four tailored interfaces:</a:t>
            </a:r>
          </a:p>
          <a:p/>
          <a:p>
            <a:r>
              <a:t>First, the Tactical Command Center for the District Collector and Disaster Management Authority. It gives a bird's-eye GIS map, anomaly detection radar, and one-click escrow controls.</a:t>
            </a:r>
          </a:p>
          <a:p/>
          <a:p>
            <a:r>
              <a:t>Second, the Tanker Pilot Cockpit—an offline-first PWA for drivers with turn-by-turn routes, GPS arrival confirmation, and dynamic QR generation.</a:t>
            </a:r>
          </a:p>
          <a:p/>
          <a:p>
            <a:r>
              <a:t>Third, the Panchayat Verifier for village sarpanches and water committees. It operates directly in any mobile browser using WebRTC camera scanning—zero app store download.</a:t>
            </a:r>
          </a:p>
          <a:p/>
          <a:p>
            <a:r>
              <a:t>And fourth, the Public Transparency Ledger—a trilingual open audit portal in Marathi, Hindi, and English so any citizen can verify when their village water was delivered.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 SLIDE 8 (TECH STACK):</a:t>
            </a:r>
          </a:p>
          <a:p>
            <a:r>
              <a:t>Here is our engineering architecture:</a:t>
            </a:r>
          </a:p>
          <a:p/>
          <a:p>
            <a:r>
              <a:t>On the frontend, we deliberately chose modern Vanilla JavaScript, precompiled Tailwind CSS, and Service Workers over heavy JavaScript frameworks. This ensures lightning-fast load times even on low-cost 2G/3G Android phones and guarantees complete offline functionality via IndexedDB.</a:t>
            </a:r>
          </a:p>
          <a:p/>
          <a:p>
            <a:r>
              <a:t>On the backend, Python with FastAPI provides asynchronous performance with automatic schema validation via Pydantic.</a:t>
            </a:r>
          </a:p>
          <a:p/>
          <a:p>
            <a:r>
              <a:t>Our intelligence layer leverages Google Earth Engine to process NASA SMAP and Copernicus Sentinel satellite feeds, paired with Google OR-Tools for combinatorial logistics optimization.</a:t>
            </a:r>
          </a:p>
          <a:p/>
          <a:p>
            <a:r>
              <a:t>For the database and security, Supabase PostgreSQL with strict Row Level Security isolates government data, while Bcrypt and HMAC-SHA256 guarantee cryptographic integrity.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 SLIDE 9 (FEASIBILITY &amp; IMPACT):</a:t>
            </a:r>
          </a:p>
          <a:p>
            <a:r>
              <a:t>Let's look at the financial and administrative viability of JalSanjeevani.</a:t>
            </a:r>
          </a:p>
          <a:p/>
          <a:p>
            <a:r>
              <a:t>First, it requires Zero Capex. We do not require installing expensive IoT flow meters or proprietary vehicle gadgets that get vandalized or disconnected. The system runs entirely on standard smartphones already owned by drivers and sarpanches, functioning smoothly through the browser.</a:t>
            </a:r>
          </a:p>
          <a:p/>
          <a:p>
            <a:r>
              <a:t>Second, the economic impact is immediate. In a single 90-day summer season across a 100-tanker fleet, stopping 22% diversion and cutting 28.4% fuel burn saves the state exchequer over ₹2.11 Crores.</a:t>
            </a:r>
          </a:p>
          <a:p/>
          <a:p>
            <a:r>
              <a:t>Third, our audit logs conform to Section 65B of the Indian Evidence Act, giving district collectors undisputed legal evidence against rogue contractors.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 SLIDE 10 (ROADMAP &amp; CONCLUSION):</a:t>
            </a:r>
          </a:p>
          <a:p>
            <a:r>
              <a:t>To conclude, our roadmap begins with a focused pilot in Sinnar taluka with 28 Gram Panchayats and 15 tankers. By Q3 2026, we expand district-wide across Ahilyanagar and Nashik, integrating directly into Maharashtra's state treasury disbursement systems.</a:t>
            </a:r>
          </a:p>
          <a:p/>
          <a:p>
            <a:r>
              <a:t>Our ultimate vision is to establish JalSanjeevani as Digital Public Infrastructure under NDMA and the Jal Jeevan Mission, providing a template for water governance across drought-prone regions in India.</a:t>
            </a:r>
          </a:p>
          <a:p/>
          <a:p>
            <a:r>
              <a:t>JalSanjeevani ensures that every liter allocated by the state reaches the citizen who needs it—with zero leakage, zero diversion, and total transparency. Thank you! We are now open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00E5FF"/>
                </a:solidFill>
                <a:latin typeface="Arial"/>
              </a:defRPr>
            </a:pPr>
            <a:r>
              <a:t>💧 SOVEREIGN SMART DROUGHT LOGISTICS &amp; ESCROW PLATFORM</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600" b="1">
                <a:solidFill>
                  <a:srgbClr val="FFFFFF"/>
                </a:solidFill>
                <a:latin typeface="Arial"/>
              </a:defRPr>
            </a:pPr>
            <a:r>
              <a:t>JalSanjeevani (जलसंजीवनी)</a:t>
            </a:r>
          </a:p>
        </p:txBody>
      </p:sp>
      <p:sp>
        <p:nvSpPr>
          <p:cNvPr id="5" name="TextBox 4"/>
          <p:cNvSpPr txBox="1"/>
          <p:nvPr/>
        </p:nvSpPr>
        <p:spPr>
          <a:xfrm>
            <a:off x="731520" y="1280160"/>
            <a:ext cx="10698480" cy="502920"/>
          </a:xfrm>
          <a:prstGeom prst="rect">
            <a:avLst/>
          </a:prstGeom>
          <a:noFill/>
        </p:spPr>
        <p:txBody>
          <a:bodyPr wrap="square" lIns="0" tIns="0" rIns="0" bIns="0">
            <a:spAutoFit/>
          </a:bodyPr>
          <a:lstStyle/>
          <a:p>
            <a:pPr>
              <a:defRPr sz="1300">
                <a:solidFill>
                  <a:srgbClr val="94A3B8"/>
                </a:solidFill>
                <a:latin typeface="Arial"/>
              </a:defRPr>
            </a:pPr>
            <a:r>
              <a:t>Predicting 14-day water scarcity via satellite telemetry, stopping tanker diversion with dual-key escrow, and optimizing emergency routes using Google OR-Tools.</a:t>
            </a:r>
          </a:p>
        </p:txBody>
      </p:sp>
      <p:sp>
        <p:nvSpPr>
          <p:cNvPr id="6" name="Rounded Rectangle 5"/>
          <p:cNvSpPr/>
          <p:nvPr/>
        </p:nvSpPr>
        <p:spPr>
          <a:xfrm>
            <a:off x="731520" y="2011680"/>
            <a:ext cx="3328416" cy="3657600"/>
          </a:xfrm>
          <a:prstGeom prst="roundRect">
            <a:avLst/>
          </a:prstGeom>
          <a:solidFill>
            <a:srgbClr val="0B1426"/>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94560"/>
            <a:ext cx="2962656" cy="3291840"/>
          </a:xfrm>
          <a:prstGeom prst="rect">
            <a:avLst/>
          </a:prstGeom>
          <a:noFill/>
        </p:spPr>
        <p:txBody>
          <a:bodyPr wrap="square" lIns="0" tIns="0" rIns="0" bIns="0">
            <a:spAutoFit/>
          </a:bodyPr>
          <a:lstStyle/>
          <a:p>
            <a:pPr>
              <a:spcAft>
                <a:spcPts val="800"/>
              </a:spcAft>
              <a:defRPr sz="1500" b="1">
                <a:solidFill>
                  <a:srgbClr val="00E5FF"/>
                </a:solidFill>
                <a:latin typeface="Arial"/>
              </a:defRPr>
            </a:pPr>
            <a:r>
              <a:t>🛰️ Predictive Intelligence</a:t>
            </a:r>
          </a:p>
          <a:p>
            <a:pPr>
              <a:spcAft>
                <a:spcPts val="400"/>
              </a:spcAft>
              <a:defRPr sz="1100">
                <a:solidFill>
                  <a:srgbClr val="CBD5E1"/>
                </a:solidFill>
                <a:latin typeface="Arial"/>
              </a:defRPr>
            </a:pPr>
            <a:r>
              <a:t>• NASA SMAP &amp; Copernicus satellite observation.</a:t>
            </a:r>
          </a:p>
          <a:p>
            <a:pPr>
              <a:spcAft>
                <a:spcPts val="400"/>
              </a:spcAft>
              <a:defRPr sz="1100">
                <a:solidFill>
                  <a:srgbClr val="CBD5E1"/>
                </a:solidFill>
                <a:latin typeface="Arial"/>
              </a:defRPr>
            </a:pPr>
            <a:r>
              <a:t>• Groundwater depletion modeling 14 days in advance.</a:t>
            </a:r>
          </a:p>
          <a:p>
            <a:pPr>
              <a:spcAft>
                <a:spcPts val="400"/>
              </a:spcAft>
              <a:defRPr sz="1100">
                <a:solidFill>
                  <a:srgbClr val="CBD5E1"/>
                </a:solidFill>
                <a:latin typeface="Arial"/>
              </a:defRPr>
            </a:pPr>
            <a:r>
              <a:t>• Eliminates reactive, paper-based crisis firefighting.</a:t>
            </a:r>
          </a:p>
          <a:p>
            <a:pPr>
              <a:spcAft>
                <a:spcPts val="400"/>
              </a:spcAft>
              <a:defRPr sz="1100">
                <a:solidFill>
                  <a:srgbClr val="CBD5E1"/>
                </a:solidFill>
                <a:latin typeface="Arial"/>
              </a:defRPr>
            </a:pPr>
            <a:r>
              <a:t>• Protects Article 21 constitutional water rights.</a:t>
            </a:r>
          </a:p>
        </p:txBody>
      </p:sp>
      <p:sp>
        <p:nvSpPr>
          <p:cNvPr id="8" name="Rounded Rectangle 7"/>
          <p:cNvSpPr/>
          <p:nvPr/>
        </p:nvSpPr>
        <p:spPr>
          <a:xfrm>
            <a:off x="4425696" y="2011680"/>
            <a:ext cx="3328416" cy="3657600"/>
          </a:xfrm>
          <a:prstGeom prst="roundRect">
            <a:avLst/>
          </a:prstGeom>
          <a:solidFill>
            <a:srgbClr val="0B142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8576" y="2194560"/>
            <a:ext cx="2962656" cy="3291840"/>
          </a:xfrm>
          <a:prstGeom prst="rect">
            <a:avLst/>
          </a:prstGeom>
          <a:noFill/>
        </p:spPr>
        <p:txBody>
          <a:bodyPr wrap="square" lIns="0" tIns="0" rIns="0" bIns="0">
            <a:spAutoFit/>
          </a:bodyPr>
          <a:lstStyle/>
          <a:p>
            <a:pPr>
              <a:spcAft>
                <a:spcPts val="800"/>
              </a:spcAft>
              <a:defRPr sz="1500" b="1">
                <a:solidFill>
                  <a:srgbClr val="10B981"/>
                </a:solidFill>
                <a:latin typeface="Arial"/>
              </a:defRPr>
            </a:pPr>
            <a:r>
              <a:t>🚚 CVRP Fleet Optimization</a:t>
            </a:r>
          </a:p>
          <a:p>
            <a:pPr>
              <a:spcAft>
                <a:spcPts val="400"/>
              </a:spcAft>
              <a:defRPr sz="1100">
                <a:solidFill>
                  <a:srgbClr val="CBD5E1"/>
                </a:solidFill>
                <a:latin typeface="Arial"/>
              </a:defRPr>
            </a:pPr>
            <a:r>
              <a:t>• Google OR-Tools combinatorial routing solver.</a:t>
            </a:r>
          </a:p>
          <a:p>
            <a:pPr>
              <a:spcAft>
                <a:spcPts val="400"/>
              </a:spcAft>
              <a:defRPr sz="1100">
                <a:solidFill>
                  <a:srgbClr val="CBD5E1"/>
                </a:solidFill>
                <a:latin typeface="Arial"/>
              </a:defRPr>
            </a:pPr>
            <a:r>
              <a:t>• Slashing fleet diesel burn by 28.4%.</a:t>
            </a:r>
          </a:p>
          <a:p>
            <a:pPr>
              <a:spcAft>
                <a:spcPts val="400"/>
              </a:spcAft>
              <a:defRPr sz="1100">
                <a:solidFill>
                  <a:srgbClr val="CBD5E1"/>
                </a:solidFill>
                <a:latin typeface="Arial"/>
              </a:defRPr>
            </a:pPr>
            <a:r>
              <a:t>• 100% Statutory Quota guarantee (40L human, 70L cattle).</a:t>
            </a:r>
          </a:p>
          <a:p>
            <a:pPr>
              <a:spcAft>
                <a:spcPts val="400"/>
              </a:spcAft>
              <a:defRPr sz="1100">
                <a:solidFill>
                  <a:srgbClr val="CBD5E1"/>
                </a:solidFill>
                <a:latin typeface="Arial"/>
              </a:defRPr>
            </a:pPr>
            <a:r>
              <a:t>• Zero skipped remote or underprivileged hamlets.</a:t>
            </a:r>
          </a:p>
        </p:txBody>
      </p:sp>
      <p:sp>
        <p:nvSpPr>
          <p:cNvPr id="10" name="Rounded Rectangle 9"/>
          <p:cNvSpPr/>
          <p:nvPr/>
        </p:nvSpPr>
        <p:spPr>
          <a:xfrm>
            <a:off x="8119872" y="2011680"/>
            <a:ext cx="3328416" cy="3657600"/>
          </a:xfrm>
          <a:prstGeom prst="roundRect">
            <a:avLst/>
          </a:prstGeom>
          <a:solidFill>
            <a:srgbClr val="0B142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2752" y="2194560"/>
            <a:ext cx="2962656" cy="3291840"/>
          </a:xfrm>
          <a:prstGeom prst="rect">
            <a:avLst/>
          </a:prstGeom>
          <a:noFill/>
        </p:spPr>
        <p:txBody>
          <a:bodyPr wrap="square" lIns="0" tIns="0" rIns="0" bIns="0">
            <a:spAutoFit/>
          </a:bodyPr>
          <a:lstStyle/>
          <a:p>
            <a:pPr>
              <a:spcAft>
                <a:spcPts val="800"/>
              </a:spcAft>
              <a:defRPr sz="1500" b="1">
                <a:solidFill>
                  <a:srgbClr val="F59E0B"/>
                </a:solidFill>
                <a:latin typeface="Arial"/>
              </a:defRPr>
            </a:pPr>
            <a:r>
              <a:t>🛡️ Anti-Diversion Escrow</a:t>
            </a:r>
          </a:p>
          <a:p>
            <a:pPr>
              <a:spcAft>
                <a:spcPts val="400"/>
              </a:spcAft>
              <a:defRPr sz="1100">
                <a:solidFill>
                  <a:srgbClr val="CBD5E1"/>
                </a:solidFill>
                <a:latin typeface="Arial"/>
              </a:defRPr>
            </a:pPr>
            <a:r>
              <a:t>• 'No Proof = No Bill Payment' state treasury lock.</a:t>
            </a:r>
          </a:p>
          <a:p>
            <a:pPr>
              <a:spcAft>
                <a:spcPts val="400"/>
              </a:spcAft>
              <a:defRPr sz="1100">
                <a:solidFill>
                  <a:srgbClr val="CBD5E1"/>
                </a:solidFill>
                <a:latin typeface="Arial"/>
              </a:defRPr>
            </a:pPr>
            <a:r>
              <a:t>• Dual-Key optical handshake (Driver key + Panchayat key).</a:t>
            </a:r>
          </a:p>
          <a:p>
            <a:pPr>
              <a:spcAft>
                <a:spcPts val="400"/>
              </a:spcAft>
              <a:defRPr sz="1100">
                <a:solidFill>
                  <a:srgbClr val="CBD5E1"/>
                </a:solidFill>
                <a:latin typeface="Arial"/>
              </a:defRPr>
            </a:pPr>
            <a:r>
              <a:t>• Geofenced cistern proximity enforcement (&lt;100m).</a:t>
            </a:r>
          </a:p>
          <a:p>
            <a:pPr>
              <a:spcAft>
                <a:spcPts val="400"/>
              </a:spcAft>
              <a:defRPr sz="1100">
                <a:solidFill>
                  <a:srgbClr val="CBD5E1"/>
                </a:solidFill>
                <a:latin typeface="Arial"/>
              </a:defRPr>
            </a:pPr>
            <a:r>
              <a:t>• Permanently eliminates the 22% tanker mafia black market.</a:t>
            </a:r>
          </a:p>
        </p:txBody>
      </p:sp>
      <p:sp>
        <p:nvSpPr>
          <p:cNvPr id="12" name="TextBox 11"/>
          <p:cNvSpPr txBox="1"/>
          <p:nvPr/>
        </p:nvSpPr>
        <p:spPr>
          <a:xfrm>
            <a:off x="731520" y="5943600"/>
            <a:ext cx="10698480" cy="365760"/>
          </a:xfrm>
          <a:prstGeom prst="rect">
            <a:avLst/>
          </a:prstGeom>
          <a:noFill/>
        </p:spPr>
        <p:txBody>
          <a:bodyPr wrap="none">
            <a:spAutoFit/>
          </a:bodyPr>
          <a:lstStyle/>
          <a:p>
            <a:pPr>
              <a:defRPr sz="1100">
                <a:solidFill>
                  <a:srgbClr val="94A3B8"/>
                </a:solidFill>
              </a:defRPr>
            </a:pPr>
            <a:r>
              <a:t>Target Pilot Deployment: Sinnar (Nashik) &amp; Ahilyanagar, Maharashtra  •  Government of Maharashtra Initiative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EF4444"/>
                </a:solidFill>
                <a:latin typeface="Arial"/>
              </a:defRPr>
            </a:pPr>
            <a:r>
              <a:t>⚠️ THE PROBLEM AND WHY IT MATTERS</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600" b="1">
                <a:solidFill>
                  <a:srgbClr val="FFFFFF"/>
                </a:solidFill>
                <a:latin typeface="Arial"/>
              </a:defRPr>
            </a:pPr>
            <a:r>
              <a:t>The Triple Crisis in Maharashtra's Rain-Shadow</a:t>
            </a:r>
          </a:p>
        </p:txBody>
      </p:sp>
      <p:sp>
        <p:nvSpPr>
          <p:cNvPr id="5" name="TextBox 4"/>
          <p:cNvSpPr txBox="1"/>
          <p:nvPr/>
        </p:nvSpPr>
        <p:spPr>
          <a:xfrm>
            <a:off x="731520" y="1280160"/>
            <a:ext cx="10698480" cy="502920"/>
          </a:xfrm>
          <a:prstGeom prst="rect">
            <a:avLst/>
          </a:prstGeom>
          <a:noFill/>
        </p:spPr>
        <p:txBody>
          <a:bodyPr wrap="square" lIns="0" tIns="0" rIns="0" bIns="0">
            <a:spAutoFit/>
          </a:bodyPr>
          <a:lstStyle/>
          <a:p>
            <a:pPr>
              <a:defRPr sz="1300">
                <a:solidFill>
                  <a:srgbClr val="94A3B8"/>
                </a:solidFill>
                <a:latin typeface="Arial"/>
              </a:defRPr>
            </a:pPr>
            <a:r>
              <a:t>In talukas like Sinnar and Ahilyanagar, groundwater extraction exceeds 120% of net recharge during dry seasons.</a:t>
            </a:r>
          </a:p>
        </p:txBody>
      </p:sp>
      <p:sp>
        <p:nvSpPr>
          <p:cNvPr id="6" name="Rounded Rectangle 5"/>
          <p:cNvSpPr/>
          <p:nvPr/>
        </p:nvSpPr>
        <p:spPr>
          <a:xfrm>
            <a:off x="731520" y="2011680"/>
            <a:ext cx="3328416" cy="3017520"/>
          </a:xfrm>
          <a:prstGeom prst="roundRect">
            <a:avLst/>
          </a:prstGeom>
          <a:solidFill>
            <a:srgbClr val="0B1426"/>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94560"/>
            <a:ext cx="2962656" cy="2651760"/>
          </a:xfrm>
          <a:prstGeom prst="rect">
            <a:avLst/>
          </a:prstGeom>
          <a:noFill/>
        </p:spPr>
        <p:txBody>
          <a:bodyPr wrap="square" lIns="0" tIns="0" rIns="0" bIns="0">
            <a:spAutoFit/>
          </a:bodyPr>
          <a:lstStyle/>
          <a:p>
            <a:pPr>
              <a:spcAft>
                <a:spcPts val="800"/>
              </a:spcAft>
              <a:defRPr sz="1500" b="1">
                <a:solidFill>
                  <a:srgbClr val="EF4444"/>
                </a:solidFill>
                <a:latin typeface="Arial"/>
              </a:defRPr>
            </a:pPr>
            <a:r>
              <a:t>1. Information Blindness</a:t>
            </a:r>
          </a:p>
          <a:p>
            <a:pPr>
              <a:spcAft>
                <a:spcPts val="400"/>
              </a:spcAft>
              <a:defRPr sz="1100">
                <a:solidFill>
                  <a:srgbClr val="CBD5E1"/>
                </a:solidFill>
                <a:latin typeface="Arial"/>
              </a:defRPr>
            </a:pPr>
            <a:r>
              <a:t>• 100% reactive administration.</a:t>
            </a:r>
          </a:p>
          <a:p>
            <a:pPr>
              <a:spcAft>
                <a:spcPts val="400"/>
              </a:spcAft>
              <a:defRPr sz="1100">
                <a:solidFill>
                  <a:srgbClr val="CBD5E1"/>
                </a:solidFill>
                <a:latin typeface="Arial"/>
              </a:defRPr>
            </a:pPr>
            <a:r>
              <a:t>• Relief orders move only after paper petitions arrive.</a:t>
            </a:r>
          </a:p>
          <a:p>
            <a:pPr>
              <a:spcAft>
                <a:spcPts val="400"/>
              </a:spcAft>
              <a:defRPr sz="1100">
                <a:solidFill>
                  <a:srgbClr val="CBD5E1"/>
                </a:solidFill>
                <a:latin typeface="Arial"/>
              </a:defRPr>
            </a:pPr>
            <a:r>
              <a:t>• Wells dry up 2 weeks before response.</a:t>
            </a:r>
          </a:p>
          <a:p>
            <a:pPr>
              <a:spcAft>
                <a:spcPts val="400"/>
              </a:spcAft>
              <a:defRPr sz="1100">
                <a:solidFill>
                  <a:srgbClr val="CBD5E1"/>
                </a:solidFill>
                <a:latin typeface="Arial"/>
              </a:defRPr>
            </a:pPr>
            <a:r>
              <a:t>• Livestock distress sales and acute human suffering.</a:t>
            </a:r>
          </a:p>
        </p:txBody>
      </p:sp>
      <p:sp>
        <p:nvSpPr>
          <p:cNvPr id="8" name="Rounded Rectangle 7"/>
          <p:cNvSpPr/>
          <p:nvPr/>
        </p:nvSpPr>
        <p:spPr>
          <a:xfrm>
            <a:off x="4425696" y="2011680"/>
            <a:ext cx="3328416" cy="3017520"/>
          </a:xfrm>
          <a:prstGeom prst="roundRect">
            <a:avLst/>
          </a:prstGeom>
          <a:solidFill>
            <a:srgbClr val="0B1426"/>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8576" y="2194560"/>
            <a:ext cx="2962656" cy="2651760"/>
          </a:xfrm>
          <a:prstGeom prst="rect">
            <a:avLst/>
          </a:prstGeom>
          <a:noFill/>
        </p:spPr>
        <p:txBody>
          <a:bodyPr wrap="square" lIns="0" tIns="0" rIns="0" bIns="0">
            <a:spAutoFit/>
          </a:bodyPr>
          <a:lstStyle/>
          <a:p>
            <a:pPr>
              <a:spcAft>
                <a:spcPts val="800"/>
              </a:spcAft>
              <a:defRPr sz="1500" b="1">
                <a:solidFill>
                  <a:srgbClr val="EF4444"/>
                </a:solidFill>
                <a:latin typeface="Arial"/>
              </a:defRPr>
            </a:pPr>
            <a:r>
              <a:t>2. Tanker Mafia Diversion</a:t>
            </a:r>
          </a:p>
          <a:p>
            <a:pPr>
              <a:spcAft>
                <a:spcPts val="400"/>
              </a:spcAft>
              <a:defRPr sz="1100">
                <a:solidFill>
                  <a:srgbClr val="CBD5E1"/>
                </a:solidFill>
                <a:latin typeface="Arial"/>
              </a:defRPr>
            </a:pPr>
            <a:r>
              <a:t>• Over 22% of subsidized relief water siphoned off.</a:t>
            </a:r>
          </a:p>
          <a:p>
            <a:pPr>
              <a:spcAft>
                <a:spcPts val="400"/>
              </a:spcAft>
              <a:defRPr sz="1100">
                <a:solidFill>
                  <a:srgbClr val="CBD5E1"/>
                </a:solidFill>
                <a:latin typeface="Arial"/>
              </a:defRPr>
            </a:pPr>
            <a:r>
              <a:t>• Tankers diverted to private vineyards and quarries.</a:t>
            </a:r>
          </a:p>
          <a:p>
            <a:pPr>
              <a:spcAft>
                <a:spcPts val="400"/>
              </a:spcAft>
              <a:defRPr sz="1100">
                <a:solidFill>
                  <a:srgbClr val="CBD5E1"/>
                </a:solidFill>
                <a:latin typeface="Arial"/>
              </a:defRPr>
            </a:pPr>
            <a:r>
              <a:t>• Paper log sheets and odometer slips easily forged.</a:t>
            </a:r>
          </a:p>
          <a:p>
            <a:pPr>
              <a:spcAft>
                <a:spcPts val="400"/>
              </a:spcAft>
              <a:defRPr sz="1100">
                <a:solidFill>
                  <a:srgbClr val="CBD5E1"/>
                </a:solidFill>
                <a:latin typeface="Arial"/>
              </a:defRPr>
            </a:pPr>
            <a:r>
              <a:t>• Zero automated connection between delivery and bill clearance.</a:t>
            </a:r>
          </a:p>
        </p:txBody>
      </p:sp>
      <p:sp>
        <p:nvSpPr>
          <p:cNvPr id="10" name="Rounded Rectangle 9"/>
          <p:cNvSpPr/>
          <p:nvPr/>
        </p:nvSpPr>
        <p:spPr>
          <a:xfrm>
            <a:off x="8119872" y="2011680"/>
            <a:ext cx="3328416" cy="3017520"/>
          </a:xfrm>
          <a:prstGeom prst="roundRect">
            <a:avLst/>
          </a:prstGeom>
          <a:solidFill>
            <a:srgbClr val="0B1426"/>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2752" y="2194560"/>
            <a:ext cx="2962656" cy="2651760"/>
          </a:xfrm>
          <a:prstGeom prst="rect">
            <a:avLst/>
          </a:prstGeom>
          <a:noFill/>
        </p:spPr>
        <p:txBody>
          <a:bodyPr wrap="square" lIns="0" tIns="0" rIns="0" bIns="0">
            <a:spAutoFit/>
          </a:bodyPr>
          <a:lstStyle/>
          <a:p>
            <a:pPr>
              <a:spcAft>
                <a:spcPts val="800"/>
              </a:spcAft>
              <a:defRPr sz="1500" b="1">
                <a:solidFill>
                  <a:srgbClr val="EF4444"/>
                </a:solidFill>
                <a:latin typeface="Arial"/>
              </a:defRPr>
            </a:pPr>
            <a:r>
              <a:t>3. Uncoordinated Logistics</a:t>
            </a:r>
          </a:p>
          <a:p>
            <a:pPr>
              <a:spcAft>
                <a:spcPts val="400"/>
              </a:spcAft>
              <a:defRPr sz="1100">
                <a:solidFill>
                  <a:srgbClr val="CBD5E1"/>
                </a:solidFill>
                <a:latin typeface="Arial"/>
              </a:defRPr>
            </a:pPr>
            <a:r>
              <a:t>• Manual, ad-hoc tanker dispatch.</a:t>
            </a:r>
          </a:p>
          <a:p>
            <a:pPr>
              <a:spcAft>
                <a:spcPts val="400"/>
              </a:spcAft>
              <a:defRPr sz="1100">
                <a:solidFill>
                  <a:srgbClr val="CBD5E1"/>
                </a:solidFill>
                <a:latin typeface="Arial"/>
              </a:defRPr>
            </a:pPr>
            <a:r>
              <a:t>• Redundant overlapping routes and empty return miles.</a:t>
            </a:r>
          </a:p>
          <a:p>
            <a:pPr>
              <a:spcAft>
                <a:spcPts val="400"/>
              </a:spcAft>
              <a:defRPr sz="1100">
                <a:solidFill>
                  <a:srgbClr val="CBD5E1"/>
                </a:solidFill>
                <a:latin typeface="Arial"/>
              </a:defRPr>
            </a:pPr>
            <a:r>
              <a:t>• +30% excess fleet diesel burn.</a:t>
            </a:r>
          </a:p>
          <a:p>
            <a:pPr>
              <a:spcAft>
                <a:spcPts val="400"/>
              </a:spcAft>
              <a:defRPr sz="1100">
                <a:solidFill>
                  <a:srgbClr val="CBD5E1"/>
                </a:solidFill>
                <a:latin typeface="Arial"/>
              </a:defRPr>
            </a:pPr>
            <a:r>
              <a:t>• Remote fringe hamlets systematically skipped.</a:t>
            </a:r>
          </a:p>
        </p:txBody>
      </p:sp>
      <p:sp>
        <p:nvSpPr>
          <p:cNvPr id="12" name="Rounded Rectangle 11"/>
          <p:cNvSpPr/>
          <p:nvPr/>
        </p:nvSpPr>
        <p:spPr>
          <a:xfrm>
            <a:off x="731520" y="5257800"/>
            <a:ext cx="10716768" cy="1143000"/>
          </a:xfrm>
          <a:prstGeom prst="roundRect">
            <a:avLst/>
          </a:prstGeom>
          <a:solidFill>
            <a:srgbClr val="0B142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440680"/>
            <a:ext cx="10351008" cy="777240"/>
          </a:xfrm>
          <a:prstGeom prst="rect">
            <a:avLst/>
          </a:prstGeom>
          <a:noFill/>
        </p:spPr>
        <p:txBody>
          <a:bodyPr wrap="square" lIns="0" tIns="0" rIns="0" bIns="0">
            <a:spAutoFit/>
          </a:bodyPr>
          <a:lstStyle/>
          <a:p>
            <a:pPr>
              <a:spcAft>
                <a:spcPts val="800"/>
              </a:spcAft>
              <a:defRPr sz="1500" b="1">
                <a:solidFill>
                  <a:srgbClr val="F59E0B"/>
                </a:solidFill>
                <a:latin typeface="Arial"/>
              </a:defRPr>
            </a:pPr>
            <a:r>
              <a:t>Constitutional Significance (Article 21 - Right to Life &amp; Water):</a:t>
            </a:r>
          </a:p>
          <a:p>
            <a:pPr>
              <a:spcAft>
                <a:spcPts val="400"/>
              </a:spcAft>
              <a:defRPr sz="1100">
                <a:solidFill>
                  <a:srgbClr val="CBD5E1"/>
                </a:solidFill>
                <a:latin typeface="Arial"/>
              </a:defRPr>
            </a:pPr>
            <a:r>
              <a:t>Water is a fundamental constitutional right. Illicit tanker diversion forces vulnerable rural families to buy back state-subsidized water from black-market cartels at extortionate prices up to ₹2,500 per trip. JalSanjeevani restores dignity and sovereign equity.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00E5FF"/>
                </a:solidFill>
                <a:latin typeface="Arial"/>
              </a:defRPr>
            </a:pPr>
            <a:r>
              <a:t>💡 THE ARCHITECTURAL SOLUTION</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600" b="1">
                <a:solidFill>
                  <a:srgbClr val="FFFFFF"/>
                </a:solidFill>
                <a:latin typeface="Arial"/>
              </a:defRPr>
            </a:pPr>
            <a:r>
              <a:t>JalSanjeevani: The 3-Pillar Technological Framework</a:t>
            </a:r>
          </a:p>
        </p:txBody>
      </p:sp>
      <p:sp>
        <p:nvSpPr>
          <p:cNvPr id="5" name="TextBox 4"/>
          <p:cNvSpPr txBox="1"/>
          <p:nvPr/>
        </p:nvSpPr>
        <p:spPr>
          <a:xfrm>
            <a:off x="731520" y="1280160"/>
            <a:ext cx="10698480" cy="502920"/>
          </a:xfrm>
          <a:prstGeom prst="rect">
            <a:avLst/>
          </a:prstGeom>
          <a:noFill/>
        </p:spPr>
        <p:txBody>
          <a:bodyPr wrap="square" lIns="0" tIns="0" rIns="0" bIns="0">
            <a:spAutoFit/>
          </a:bodyPr>
          <a:lstStyle/>
          <a:p>
            <a:pPr>
              <a:defRPr sz="1300">
                <a:solidFill>
                  <a:srgbClr val="94A3B8"/>
                </a:solidFill>
                <a:latin typeface="Arial"/>
              </a:defRPr>
            </a:pPr>
            <a:r>
              <a:t>Connecting orbital remote sensing, combinatorial operations research, and cryptographic smart escrow.</a:t>
            </a:r>
          </a:p>
        </p:txBody>
      </p:sp>
      <p:sp>
        <p:nvSpPr>
          <p:cNvPr id="6" name="Rounded Rectangle 5"/>
          <p:cNvSpPr/>
          <p:nvPr/>
        </p:nvSpPr>
        <p:spPr>
          <a:xfrm>
            <a:off x="731520" y="2011680"/>
            <a:ext cx="3328416" cy="4206240"/>
          </a:xfrm>
          <a:prstGeom prst="roundRect">
            <a:avLst/>
          </a:prstGeom>
          <a:solidFill>
            <a:srgbClr val="0B1426"/>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94560"/>
            <a:ext cx="2962656" cy="3840479"/>
          </a:xfrm>
          <a:prstGeom prst="rect">
            <a:avLst/>
          </a:prstGeom>
          <a:noFill/>
        </p:spPr>
        <p:txBody>
          <a:bodyPr wrap="square" lIns="0" tIns="0" rIns="0" bIns="0">
            <a:spAutoFit/>
          </a:bodyPr>
          <a:lstStyle/>
          <a:p>
            <a:pPr>
              <a:spcAft>
                <a:spcPts val="800"/>
              </a:spcAft>
              <a:defRPr sz="1500" b="1">
                <a:solidFill>
                  <a:srgbClr val="00E5FF"/>
                </a:solidFill>
                <a:latin typeface="Arial"/>
              </a:defRPr>
            </a:pPr>
            <a:r>
              <a:t>🛰️ Pillar 1: Predictive Scarcity</a:t>
            </a:r>
          </a:p>
          <a:p>
            <a:pPr>
              <a:spcAft>
                <a:spcPts val="400"/>
              </a:spcAft>
              <a:defRPr sz="1100">
                <a:solidFill>
                  <a:srgbClr val="CBD5E1"/>
                </a:solidFill>
                <a:latin typeface="Arial"/>
              </a:defRPr>
            </a:pPr>
            <a:r>
              <a:t>• Ingests NASA SMAP root-zone soil moisture.</a:t>
            </a:r>
          </a:p>
          <a:p>
            <a:pPr>
              <a:spcAft>
                <a:spcPts val="400"/>
              </a:spcAft>
              <a:defRPr sz="1100">
                <a:solidFill>
                  <a:srgbClr val="CBD5E1"/>
                </a:solidFill>
                <a:latin typeface="Arial"/>
              </a:defRPr>
            </a:pPr>
            <a:r>
              <a:t>• Copernicus Sentinel-2 MNDWI water indices.</a:t>
            </a:r>
          </a:p>
          <a:p>
            <a:pPr>
              <a:spcAft>
                <a:spcPts val="400"/>
              </a:spcAft>
              <a:defRPr sz="1100">
                <a:solidFill>
                  <a:srgbClr val="CBD5E1"/>
                </a:solidFill>
                <a:latin typeface="Arial"/>
              </a:defRPr>
            </a:pPr>
            <a:r>
              <a:t>• Generates 14-day advance depletion warning.</a:t>
            </a:r>
          </a:p>
          <a:p>
            <a:pPr>
              <a:spcAft>
                <a:spcPts val="400"/>
              </a:spcAft>
              <a:defRPr sz="1100">
                <a:solidFill>
                  <a:srgbClr val="CBD5E1"/>
                </a:solidFill>
                <a:latin typeface="Arial"/>
              </a:defRPr>
            </a:pPr>
            <a:r>
              <a:t>• Alerts District Collector before cistern exhaustion.</a:t>
            </a:r>
          </a:p>
          <a:p>
            <a:pPr>
              <a:spcAft>
                <a:spcPts val="400"/>
              </a:spcAft>
              <a:defRPr sz="1100">
                <a:solidFill>
                  <a:srgbClr val="CBD5E1"/>
                </a:solidFill>
                <a:latin typeface="Arial"/>
              </a:defRPr>
            </a:pPr>
            <a:r>
              <a:t>• Enables planned, preemptive relief dispatch.</a:t>
            </a:r>
          </a:p>
        </p:txBody>
      </p:sp>
      <p:sp>
        <p:nvSpPr>
          <p:cNvPr id="8" name="Rounded Rectangle 7"/>
          <p:cNvSpPr/>
          <p:nvPr/>
        </p:nvSpPr>
        <p:spPr>
          <a:xfrm>
            <a:off x="4425696" y="2011680"/>
            <a:ext cx="3328416" cy="4206240"/>
          </a:xfrm>
          <a:prstGeom prst="roundRect">
            <a:avLst/>
          </a:prstGeom>
          <a:solidFill>
            <a:srgbClr val="0B142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8576" y="2194560"/>
            <a:ext cx="2962656" cy="3840479"/>
          </a:xfrm>
          <a:prstGeom prst="rect">
            <a:avLst/>
          </a:prstGeom>
          <a:noFill/>
        </p:spPr>
        <p:txBody>
          <a:bodyPr wrap="square" lIns="0" tIns="0" rIns="0" bIns="0">
            <a:spAutoFit/>
          </a:bodyPr>
          <a:lstStyle/>
          <a:p>
            <a:pPr>
              <a:spcAft>
                <a:spcPts val="800"/>
              </a:spcAft>
              <a:defRPr sz="1500" b="1">
                <a:solidFill>
                  <a:srgbClr val="10B981"/>
                </a:solidFill>
                <a:latin typeface="Arial"/>
              </a:defRPr>
            </a:pPr>
            <a:r>
              <a:t>🚚 Pillar 2: CVRP Fleet Solver</a:t>
            </a:r>
          </a:p>
          <a:p>
            <a:pPr>
              <a:spcAft>
                <a:spcPts val="400"/>
              </a:spcAft>
              <a:defRPr sz="1100">
                <a:solidFill>
                  <a:srgbClr val="CBD5E1"/>
                </a:solidFill>
                <a:latin typeface="Arial"/>
              </a:defRPr>
            </a:pPr>
            <a:r>
              <a:t>• Google OR-Tools combinatorial optimization engine.</a:t>
            </a:r>
          </a:p>
          <a:p>
            <a:pPr>
              <a:spcAft>
                <a:spcPts val="400"/>
              </a:spcAft>
              <a:defRPr sz="1100">
                <a:solidFill>
                  <a:srgbClr val="CBD5E1"/>
                </a:solidFill>
                <a:latin typeface="Arial"/>
              </a:defRPr>
            </a:pPr>
            <a:r>
              <a:t>• Solves multi-depot, multi-tanker delivery routes.</a:t>
            </a:r>
          </a:p>
          <a:p>
            <a:pPr>
              <a:spcAft>
                <a:spcPts val="400"/>
              </a:spcAft>
              <a:defRPr sz="1100">
                <a:solidFill>
                  <a:srgbClr val="CBD5E1"/>
                </a:solidFill>
                <a:latin typeface="Arial"/>
              </a:defRPr>
            </a:pPr>
            <a:r>
              <a:t>• Enforces Article 21 statutory quotas (40L human, 70L cattle).</a:t>
            </a:r>
          </a:p>
          <a:p>
            <a:pPr>
              <a:spcAft>
                <a:spcPts val="400"/>
              </a:spcAft>
              <a:defRPr sz="1100">
                <a:solidFill>
                  <a:srgbClr val="CBD5E1"/>
                </a:solidFill>
                <a:latin typeface="Arial"/>
              </a:defRPr>
            </a:pPr>
            <a:r>
              <a:t>• Cuts fleet diesel burn by 28.4%.</a:t>
            </a:r>
          </a:p>
          <a:p>
            <a:pPr>
              <a:spcAft>
                <a:spcPts val="400"/>
              </a:spcAft>
              <a:defRPr sz="1100">
                <a:solidFill>
                  <a:srgbClr val="CBD5E1"/>
                </a:solidFill>
                <a:latin typeface="Arial"/>
              </a:defRPr>
            </a:pPr>
            <a:r>
              <a:t>• Turn-by-turn route manifests dispatched to driver PWA.</a:t>
            </a:r>
          </a:p>
        </p:txBody>
      </p:sp>
      <p:sp>
        <p:nvSpPr>
          <p:cNvPr id="10" name="Rounded Rectangle 9"/>
          <p:cNvSpPr/>
          <p:nvPr/>
        </p:nvSpPr>
        <p:spPr>
          <a:xfrm>
            <a:off x="8119872" y="2011680"/>
            <a:ext cx="3328416" cy="4206240"/>
          </a:xfrm>
          <a:prstGeom prst="roundRect">
            <a:avLst/>
          </a:prstGeom>
          <a:solidFill>
            <a:srgbClr val="0B142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2752" y="2194560"/>
            <a:ext cx="2962656" cy="3840479"/>
          </a:xfrm>
          <a:prstGeom prst="rect">
            <a:avLst/>
          </a:prstGeom>
          <a:noFill/>
        </p:spPr>
        <p:txBody>
          <a:bodyPr wrap="square" lIns="0" tIns="0" rIns="0" bIns="0">
            <a:spAutoFit/>
          </a:bodyPr>
          <a:lstStyle/>
          <a:p>
            <a:pPr>
              <a:spcAft>
                <a:spcPts val="800"/>
              </a:spcAft>
              <a:defRPr sz="1500" b="1">
                <a:solidFill>
                  <a:srgbClr val="F59E0B"/>
                </a:solidFill>
                <a:latin typeface="Arial"/>
              </a:defRPr>
            </a:pPr>
            <a:r>
              <a:t>🛡️ Pillar 3: Anti-Diversion Escrow</a:t>
            </a:r>
          </a:p>
          <a:p>
            <a:pPr>
              <a:spcAft>
                <a:spcPts val="400"/>
              </a:spcAft>
              <a:defRPr sz="1100">
                <a:solidFill>
                  <a:srgbClr val="CBD5E1"/>
                </a:solidFill>
                <a:latin typeface="Arial"/>
              </a:defRPr>
            </a:pPr>
            <a:r>
              <a:t>• 'No Proof = No Bill Payment' sovereign treasury rule.</a:t>
            </a:r>
          </a:p>
          <a:p>
            <a:pPr>
              <a:spcAft>
                <a:spcPts val="400"/>
              </a:spcAft>
              <a:defRPr sz="1100">
                <a:solidFill>
                  <a:srgbClr val="CBD5E1"/>
                </a:solidFill>
                <a:latin typeface="Arial"/>
              </a:defRPr>
            </a:pPr>
            <a:r>
              <a:t>• Dual-Key Optical Handshake (Driver key + Panchayat key).</a:t>
            </a:r>
          </a:p>
          <a:p>
            <a:pPr>
              <a:spcAft>
                <a:spcPts val="400"/>
              </a:spcAft>
              <a:defRPr sz="1100">
                <a:solidFill>
                  <a:srgbClr val="CBD5E1"/>
                </a:solidFill>
                <a:latin typeface="Arial"/>
              </a:defRPr>
            </a:pPr>
            <a:r>
              <a:t>• Geofenced GPS proximity lock within 100m of cistern.</a:t>
            </a:r>
          </a:p>
          <a:p>
            <a:pPr>
              <a:spcAft>
                <a:spcPts val="400"/>
              </a:spcAft>
              <a:defRPr sz="1100">
                <a:solidFill>
                  <a:srgbClr val="CBD5E1"/>
                </a:solidFill>
                <a:latin typeface="Arial"/>
              </a:defRPr>
            </a:pPr>
            <a:r>
              <a:t>• Dynamic HMAC-SHA256 tokens rotated every 60 seconds.</a:t>
            </a:r>
          </a:p>
          <a:p>
            <a:pPr>
              <a:spcAft>
                <a:spcPts val="400"/>
              </a:spcAft>
              <a:defRPr sz="1100">
                <a:solidFill>
                  <a:srgbClr val="CBD5E1"/>
                </a:solidFill>
                <a:latin typeface="Arial"/>
              </a:defRPr>
            </a:pPr>
            <a:r>
              <a:t>• Instant contractor escrow freeze upon route anomaly.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00E5FF"/>
                </a:solidFill>
                <a:latin typeface="Arial"/>
              </a:defRPr>
            </a:pPr>
            <a:r>
              <a:t>⭐ UNFAIR ADVANTAGE &amp; COMPETITIVE DIFFERENTIATION</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600" b="1">
                <a:solidFill>
                  <a:srgbClr val="FFFFFF"/>
                </a:solidFill>
                <a:latin typeface="Arial"/>
              </a:defRPr>
            </a:pPr>
            <a:r>
              <a:t>Why Traditional GPS &amp; Fleet Tech Fail in Drought Relief</a:t>
            </a:r>
          </a:p>
        </p:txBody>
      </p:sp>
      <p:sp>
        <p:nvSpPr>
          <p:cNvPr id="5" name="TextBox 4"/>
          <p:cNvSpPr txBox="1"/>
          <p:nvPr/>
        </p:nvSpPr>
        <p:spPr>
          <a:xfrm>
            <a:off x="731520" y="1280160"/>
            <a:ext cx="10698480" cy="502920"/>
          </a:xfrm>
          <a:prstGeom prst="rect">
            <a:avLst/>
          </a:prstGeom>
          <a:noFill/>
        </p:spPr>
        <p:txBody>
          <a:bodyPr wrap="square" lIns="0" tIns="0" rIns="0" bIns="0">
            <a:spAutoFit/>
          </a:bodyPr>
          <a:lstStyle/>
          <a:p>
            <a:pPr>
              <a:defRPr sz="1300">
                <a:solidFill>
                  <a:srgbClr val="94A3B8"/>
                </a:solidFill>
                <a:latin typeface="Arial"/>
              </a:defRPr>
            </a:pPr>
            <a:r>
              <a:t>JalSanjeevani ties physical verification directly to state treasury disbursements.</a:t>
            </a:r>
          </a:p>
        </p:txBody>
      </p:sp>
      <p:graphicFrame>
        <p:nvGraphicFramePr>
          <p:cNvPr id="6" name="Table 5"/>
          <p:cNvGraphicFramePr>
            <a:graphicFrameLocks noGrp="1"/>
          </p:cNvGraphicFramePr>
          <p:nvPr/>
        </p:nvGraphicFramePr>
        <p:xfrm>
          <a:off x="731520" y="2011680"/>
          <a:ext cx="10716768" cy="4297680"/>
        </p:xfrm>
        <a:graphic>
          <a:graphicData uri="http://schemas.openxmlformats.org/drawingml/2006/table">
            <a:tbl>
              <a:tblPr firstRow="1" bandRow="1">
                <a:tableStyleId>{5C22544A-7EE6-4342-B048-85BDC9FD1C3A}</a:tableStyleId>
              </a:tblPr>
              <a:tblGrid>
                <a:gridCol w="2121408"/>
                <a:gridCol w="2834640"/>
                <a:gridCol w="2834640"/>
                <a:gridCol w="2926080"/>
              </a:tblGrid>
              <a:tr h="716280">
                <a:tc>
                  <a:txBody>
                    <a:bodyPr/>
                    <a:lstStyle/>
                    <a:p>
                      <a:pPr>
                        <a:defRPr b="1" sz="1200">
                          <a:solidFill>
                            <a:srgbClr val="FFFFFF"/>
                          </a:solidFill>
                          <a:latin typeface="Arial"/>
                        </a:defRPr>
                      </a:pPr>
                      <a:r>
                        <a:t>Dimension</a:t>
                      </a:r>
                    </a:p>
                  </a:txBody>
                  <a:tcPr>
                    <a:solidFill>
                      <a:srgbClr val="0E243F"/>
                    </a:solidFill>
                  </a:tcPr>
                </a:tc>
                <a:tc>
                  <a:txBody>
                    <a:bodyPr/>
                    <a:lstStyle/>
                    <a:p>
                      <a:pPr>
                        <a:defRPr b="1" sz="1200">
                          <a:solidFill>
                            <a:srgbClr val="FFFFFF"/>
                          </a:solidFill>
                          <a:latin typeface="Arial"/>
                        </a:defRPr>
                      </a:pPr>
                      <a:r>
                        <a:t>Legacy Systems (Paper/GPS)</a:t>
                      </a:r>
                    </a:p>
                  </a:txBody>
                  <a:tcPr>
                    <a:solidFill>
                      <a:srgbClr val="0E243F"/>
                    </a:solidFill>
                  </a:tcPr>
                </a:tc>
                <a:tc>
                  <a:txBody>
                    <a:bodyPr/>
                    <a:lstStyle/>
                    <a:p>
                      <a:pPr>
                        <a:defRPr b="1" sz="1200">
                          <a:solidFill>
                            <a:srgbClr val="FFFFFF"/>
                          </a:solidFill>
                          <a:latin typeface="Arial"/>
                        </a:defRPr>
                      </a:pPr>
                      <a:r>
                        <a:t>Commercial Fleet Tech</a:t>
                      </a:r>
                    </a:p>
                  </a:txBody>
                  <a:tcPr>
                    <a:solidFill>
                      <a:srgbClr val="0E243F"/>
                    </a:solidFill>
                  </a:tcPr>
                </a:tc>
                <a:tc>
                  <a:txBody>
                    <a:bodyPr/>
                    <a:lstStyle/>
                    <a:p>
                      <a:pPr>
                        <a:defRPr b="1" sz="1200">
                          <a:solidFill>
                            <a:srgbClr val="00E5FF"/>
                          </a:solidFill>
                          <a:latin typeface="Arial"/>
                        </a:defRPr>
                      </a:pPr>
                      <a:r>
                        <a:t>JalSanjeevani (जलसंजीवनी)</a:t>
                      </a:r>
                    </a:p>
                  </a:txBody>
                  <a:tcPr>
                    <a:solidFill>
                      <a:srgbClr val="0E243F"/>
                    </a:solidFill>
                  </a:tcPr>
                </a:tc>
              </a:tr>
              <a:tr h="716280">
                <a:tc>
                  <a:txBody>
                    <a:bodyPr/>
                    <a:lstStyle/>
                    <a:p>
                      <a:pPr>
                        <a:defRPr sz="1050" b="1">
                          <a:solidFill>
                            <a:srgbClr val="FFFFFF"/>
                          </a:solidFill>
                          <a:latin typeface="Arial"/>
                        </a:defRPr>
                      </a:pPr>
                      <a:r>
                        <a:t>Payment Enforcement</a:t>
                      </a:r>
                    </a:p>
                  </a:txBody>
                  <a:tcPr>
                    <a:solidFill>
                      <a:srgbClr val="0B1426"/>
                    </a:solidFill>
                  </a:tcPr>
                </a:tc>
                <a:tc>
                  <a:txBody>
                    <a:bodyPr/>
                    <a:lstStyle/>
                    <a:p>
                      <a:pPr>
                        <a:defRPr sz="1050">
                          <a:solidFill>
                            <a:srgbClr val="94A3B8"/>
                          </a:solidFill>
                          <a:latin typeface="Arial"/>
                        </a:defRPr>
                      </a:pPr>
                      <a:r>
                        <a:t>Post-facto paper bills; paid regardless of leakage.</a:t>
                      </a:r>
                    </a:p>
                  </a:txBody>
                  <a:tcPr>
                    <a:solidFill>
                      <a:srgbClr val="0B1426"/>
                    </a:solidFill>
                  </a:tcPr>
                </a:tc>
                <a:tc>
                  <a:txBody>
                    <a:bodyPr/>
                    <a:lstStyle/>
                    <a:p>
                      <a:pPr>
                        <a:defRPr sz="1050">
                          <a:solidFill>
                            <a:srgbClr val="94A3B8"/>
                          </a:solidFill>
                          <a:latin typeface="Arial"/>
                        </a:defRPr>
                      </a:pPr>
                      <a:r>
                        <a:t>Vehicle tracking only; zero link to state treasury.</a:t>
                      </a:r>
                    </a:p>
                  </a:txBody>
                  <a:tcPr>
                    <a:solidFill>
                      <a:srgbClr val="0B1426"/>
                    </a:solidFill>
                  </a:tcPr>
                </a:tc>
                <a:tc>
                  <a:txBody>
                    <a:bodyPr/>
                    <a:lstStyle/>
                    <a:p>
                      <a:pPr>
                        <a:defRPr sz="1050" b="1">
                          <a:solidFill>
                            <a:srgbClr val="00E5FF"/>
                          </a:solidFill>
                          <a:latin typeface="Arial"/>
                        </a:defRPr>
                      </a:pPr>
                      <a:r>
                        <a:t>Smart Escrow: Zero bill payout without verified cryptographic proof.</a:t>
                      </a:r>
                    </a:p>
                  </a:txBody>
                  <a:tcPr>
                    <a:solidFill>
                      <a:srgbClr val="0B1426"/>
                    </a:solidFill>
                  </a:tcPr>
                </a:tc>
              </a:tr>
              <a:tr h="716280">
                <a:tc>
                  <a:txBody>
                    <a:bodyPr/>
                    <a:lstStyle/>
                    <a:p>
                      <a:pPr>
                        <a:defRPr sz="1050" b="1">
                          <a:solidFill>
                            <a:srgbClr val="FFFFFF"/>
                          </a:solidFill>
                          <a:latin typeface="Arial"/>
                        </a:defRPr>
                      </a:pPr>
                      <a:r>
                        <a:t>Delivery Proof</a:t>
                      </a:r>
                    </a:p>
                  </a:txBody>
                  <a:tcPr>
                    <a:solidFill>
                      <a:srgbClr val="0B1426"/>
                    </a:solidFill>
                  </a:tcPr>
                </a:tc>
                <a:tc>
                  <a:txBody>
                    <a:bodyPr/>
                    <a:lstStyle/>
                    <a:p>
                      <a:pPr>
                        <a:defRPr sz="1050">
                          <a:solidFill>
                            <a:srgbClr val="94A3B8"/>
                          </a:solidFill>
                          <a:latin typeface="Arial"/>
                        </a:defRPr>
                      </a:pPr>
                      <a:r>
                        <a:t>Forged paper logbooks &amp; odometer slips.</a:t>
                      </a:r>
                    </a:p>
                  </a:txBody>
                  <a:tcPr>
                    <a:solidFill>
                      <a:srgbClr val="0B1426"/>
                    </a:solidFill>
                  </a:tcPr>
                </a:tc>
                <a:tc>
                  <a:txBody>
                    <a:bodyPr/>
                    <a:lstStyle/>
                    <a:p>
                      <a:pPr>
                        <a:defRPr sz="1050">
                          <a:solidFill>
                            <a:srgbClr val="94A3B8"/>
                          </a:solidFill>
                          <a:latin typeface="Arial"/>
                        </a:defRPr>
                      </a:pPr>
                      <a:r>
                        <a:t>Driver single-tap button or digital signature.</a:t>
                      </a:r>
                    </a:p>
                  </a:txBody>
                  <a:tcPr>
                    <a:solidFill>
                      <a:srgbClr val="0B1426"/>
                    </a:solidFill>
                  </a:tcPr>
                </a:tc>
                <a:tc>
                  <a:txBody>
                    <a:bodyPr/>
                    <a:lstStyle/>
                    <a:p>
                      <a:pPr>
                        <a:defRPr sz="1050" b="1">
                          <a:solidFill>
                            <a:srgbClr val="00E5FF"/>
                          </a:solidFill>
                          <a:latin typeface="Arial"/>
                        </a:defRPr>
                      </a:pPr>
                      <a:r>
                        <a:t>Dual-Key Optical Handshake (Driver key + Panchayat hardware key).</a:t>
                      </a:r>
                    </a:p>
                  </a:txBody>
                  <a:tcPr>
                    <a:solidFill>
                      <a:srgbClr val="0B1426"/>
                    </a:solidFill>
                  </a:tcPr>
                </a:tc>
              </a:tr>
              <a:tr h="716280">
                <a:tc>
                  <a:txBody>
                    <a:bodyPr/>
                    <a:lstStyle/>
                    <a:p>
                      <a:pPr>
                        <a:defRPr sz="1050" b="1">
                          <a:solidFill>
                            <a:srgbClr val="FFFFFF"/>
                          </a:solidFill>
                          <a:latin typeface="Arial"/>
                        </a:defRPr>
                      </a:pPr>
                      <a:r>
                        <a:t>Replay Attack Defense</a:t>
                      </a:r>
                    </a:p>
                  </a:txBody>
                  <a:tcPr>
                    <a:solidFill>
                      <a:srgbClr val="0B1426"/>
                    </a:solidFill>
                  </a:tcPr>
                </a:tc>
                <a:tc>
                  <a:txBody>
                    <a:bodyPr/>
                    <a:lstStyle/>
                    <a:p>
                      <a:pPr>
                        <a:defRPr sz="1050">
                          <a:solidFill>
                            <a:srgbClr val="94A3B8"/>
                          </a:solidFill>
                          <a:latin typeface="Arial"/>
                        </a:defRPr>
                      </a:pPr>
                      <a:r>
                        <a:t>None; paper slips duplicated.</a:t>
                      </a:r>
                    </a:p>
                  </a:txBody>
                  <a:tcPr>
                    <a:solidFill>
                      <a:srgbClr val="0B1426"/>
                    </a:solidFill>
                  </a:tcPr>
                </a:tc>
                <a:tc>
                  <a:txBody>
                    <a:bodyPr/>
                    <a:lstStyle/>
                    <a:p>
                      <a:pPr>
                        <a:defRPr sz="1050">
                          <a:solidFill>
                            <a:srgbClr val="94A3B8"/>
                          </a:solidFill>
                          <a:latin typeface="Arial"/>
                        </a:defRPr>
                      </a:pPr>
                      <a:r>
                        <a:t>Static QR codes vulnerable to WhatsApp sharing.</a:t>
                      </a:r>
                    </a:p>
                  </a:txBody>
                  <a:tcPr>
                    <a:solidFill>
                      <a:srgbClr val="0B1426"/>
                    </a:solidFill>
                  </a:tcPr>
                </a:tc>
                <a:tc>
                  <a:txBody>
                    <a:bodyPr/>
                    <a:lstStyle/>
                    <a:p>
                      <a:pPr>
                        <a:defRPr sz="1050" b="1">
                          <a:solidFill>
                            <a:srgbClr val="00E5FF"/>
                          </a:solidFill>
                          <a:latin typeface="Arial"/>
                        </a:defRPr>
                      </a:pPr>
                      <a:r>
                        <a:t>Dynamic HMAC-SHA256 (60s rotation, nonce deduplication, 10m validity).</a:t>
                      </a:r>
                    </a:p>
                  </a:txBody>
                  <a:tcPr>
                    <a:solidFill>
                      <a:srgbClr val="0B1426"/>
                    </a:solidFill>
                  </a:tcPr>
                </a:tc>
              </a:tr>
              <a:tr h="716280">
                <a:tc>
                  <a:txBody>
                    <a:bodyPr/>
                    <a:lstStyle/>
                    <a:p>
                      <a:pPr>
                        <a:defRPr sz="1050" b="1">
                          <a:solidFill>
                            <a:srgbClr val="FFFFFF"/>
                          </a:solidFill>
                          <a:latin typeface="Arial"/>
                        </a:defRPr>
                      </a:pPr>
                      <a:r>
                        <a:t>Geofence Verification</a:t>
                      </a:r>
                    </a:p>
                  </a:txBody>
                  <a:tcPr>
                    <a:solidFill>
                      <a:srgbClr val="0B1426"/>
                    </a:solidFill>
                  </a:tcPr>
                </a:tc>
                <a:tc>
                  <a:txBody>
                    <a:bodyPr/>
                    <a:lstStyle/>
                    <a:p>
                      <a:pPr>
                        <a:defRPr sz="1050">
                          <a:solidFill>
                            <a:srgbClr val="94A3B8"/>
                          </a:solidFill>
                          <a:latin typeface="Arial"/>
                        </a:defRPr>
                      </a:pPr>
                      <a:r>
                        <a:t>Tanker GPS only (easily spoofed or unplugged).</a:t>
                      </a:r>
                    </a:p>
                  </a:txBody>
                  <a:tcPr>
                    <a:solidFill>
                      <a:srgbClr val="0B1426"/>
                    </a:solidFill>
                  </a:tcPr>
                </a:tc>
                <a:tc>
                  <a:txBody>
                    <a:bodyPr/>
                    <a:lstStyle/>
                    <a:p>
                      <a:pPr>
                        <a:defRPr sz="1050">
                          <a:solidFill>
                            <a:srgbClr val="94A3B8"/>
                          </a:solidFill>
                          <a:latin typeface="Arial"/>
                        </a:defRPr>
                      </a:pPr>
                      <a:r>
                        <a:t>Single-point circular radius.</a:t>
                      </a:r>
                    </a:p>
                  </a:txBody>
                  <a:tcPr>
                    <a:solidFill>
                      <a:srgbClr val="0B1426"/>
                    </a:solidFill>
                  </a:tcPr>
                </a:tc>
                <a:tc>
                  <a:txBody>
                    <a:bodyPr/>
                    <a:lstStyle/>
                    <a:p>
                      <a:pPr>
                        <a:defRPr sz="1050" b="1">
                          <a:solidFill>
                            <a:srgbClr val="00E5FF"/>
                          </a:solidFill>
                          <a:latin typeface="Arial"/>
                        </a:defRPr>
                      </a:pPr>
                      <a:r>
                        <a:t>Dual-Factor Geofencing: Tanker GPS + Sarpanch Device GPS &lt;= 100m.</a:t>
                      </a:r>
                    </a:p>
                  </a:txBody>
                  <a:tcPr>
                    <a:solidFill>
                      <a:srgbClr val="0B1426"/>
                    </a:solidFill>
                  </a:tcPr>
                </a:tc>
              </a:tr>
              <a:tr h="716280">
                <a:tc>
                  <a:txBody>
                    <a:bodyPr/>
                    <a:lstStyle/>
                    <a:p>
                      <a:pPr>
                        <a:defRPr sz="1050" b="1">
                          <a:solidFill>
                            <a:srgbClr val="FFFFFF"/>
                          </a:solidFill>
                          <a:latin typeface="Arial"/>
                        </a:defRPr>
                      </a:pPr>
                      <a:r>
                        <a:t>Rural Offline Resilience</a:t>
                      </a:r>
                    </a:p>
                  </a:txBody>
                  <a:tcPr>
                    <a:solidFill>
                      <a:srgbClr val="0B1426"/>
                    </a:solidFill>
                  </a:tcPr>
                </a:tc>
                <a:tc>
                  <a:txBody>
                    <a:bodyPr/>
                    <a:lstStyle/>
                    <a:p>
                      <a:pPr>
                        <a:defRPr sz="1050">
                          <a:solidFill>
                            <a:srgbClr val="94A3B8"/>
                          </a:solidFill>
                          <a:latin typeface="Arial"/>
                        </a:defRPr>
                      </a:pPr>
                      <a:r>
                        <a:t>Fails completely without active 4G data.</a:t>
                      </a:r>
                    </a:p>
                  </a:txBody>
                  <a:tcPr>
                    <a:solidFill>
                      <a:srgbClr val="0B1426"/>
                    </a:solidFill>
                  </a:tcPr>
                </a:tc>
                <a:tc>
                  <a:txBody>
                    <a:bodyPr/>
                    <a:lstStyle/>
                    <a:p>
                      <a:pPr>
                        <a:defRPr sz="1050">
                          <a:solidFill>
                            <a:srgbClr val="94A3B8"/>
                          </a:solidFill>
                          <a:latin typeface="Arial"/>
                        </a:defRPr>
                      </a:pPr>
                      <a:r>
                        <a:t>Cloud-dependent; crashes in hill valleys.</a:t>
                      </a:r>
                    </a:p>
                  </a:txBody>
                  <a:tcPr>
                    <a:solidFill>
                      <a:srgbClr val="0B1426"/>
                    </a:solidFill>
                  </a:tcPr>
                </a:tc>
                <a:tc>
                  <a:txBody>
                    <a:bodyPr/>
                    <a:lstStyle/>
                    <a:p>
                      <a:pPr>
                        <a:defRPr sz="1050" b="1">
                          <a:solidFill>
                            <a:srgbClr val="00E5FF"/>
                          </a:solidFill>
                          <a:latin typeface="Arial"/>
                        </a:defRPr>
                      </a:pPr>
                      <a:r>
                        <a:t>Sovereign IndexedDB queue + Service Worker Background Sync.</a:t>
                      </a:r>
                    </a:p>
                  </a:txBody>
                  <a:tcPr>
                    <a:solidFill>
                      <a:srgbClr val="0B1426"/>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00E5FF"/>
                </a:solidFill>
                <a:latin typeface="Arial"/>
              </a:defRPr>
            </a:pPr>
            <a:r>
              <a:t>🔐 SECURITY &amp; FINANCIAL RESILIENCE</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600" b="1">
                <a:solidFill>
                  <a:srgbClr val="FFFFFF"/>
                </a:solidFill>
                <a:latin typeface="Arial"/>
              </a:defRPr>
            </a:pPr>
            <a:r>
              <a:t>The Dual-Key Optical Handshake Protocol</a:t>
            </a:r>
          </a:p>
        </p:txBody>
      </p:sp>
      <p:sp>
        <p:nvSpPr>
          <p:cNvPr id="5" name="TextBox 4"/>
          <p:cNvSpPr txBox="1"/>
          <p:nvPr/>
        </p:nvSpPr>
        <p:spPr>
          <a:xfrm>
            <a:off x="731520" y="1280160"/>
            <a:ext cx="10698480" cy="502920"/>
          </a:xfrm>
          <a:prstGeom prst="rect">
            <a:avLst/>
          </a:prstGeom>
          <a:noFill/>
        </p:spPr>
        <p:txBody>
          <a:bodyPr wrap="square" lIns="0" tIns="0" rIns="0" bIns="0">
            <a:spAutoFit/>
          </a:bodyPr>
          <a:lstStyle/>
          <a:p>
            <a:pPr>
              <a:defRPr sz="1300">
                <a:solidFill>
                  <a:srgbClr val="94A3B8"/>
                </a:solidFill>
                <a:latin typeface="Arial"/>
              </a:defRPr>
            </a:pPr>
            <a:r>
              <a:t>Mathematically proving water was physically discharged into the community cistern before funds disburse.</a:t>
            </a:r>
          </a:p>
        </p:txBody>
      </p:sp>
      <p:sp>
        <p:nvSpPr>
          <p:cNvPr id="6" name="Rounded Rectangle 5"/>
          <p:cNvSpPr/>
          <p:nvPr/>
        </p:nvSpPr>
        <p:spPr>
          <a:xfrm>
            <a:off x="731520" y="2011680"/>
            <a:ext cx="5175504" cy="4297680"/>
          </a:xfrm>
          <a:prstGeom prst="roundRect">
            <a:avLst/>
          </a:prstGeom>
          <a:solidFill>
            <a:srgbClr val="0B142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94560"/>
            <a:ext cx="4809744" cy="3931920"/>
          </a:xfrm>
          <a:prstGeom prst="rect">
            <a:avLst/>
          </a:prstGeom>
          <a:noFill/>
        </p:spPr>
        <p:txBody>
          <a:bodyPr wrap="square" lIns="0" tIns="0" rIns="0" bIns="0">
            <a:spAutoFit/>
          </a:bodyPr>
          <a:lstStyle/>
          <a:p>
            <a:pPr>
              <a:spcAft>
                <a:spcPts val="800"/>
              </a:spcAft>
              <a:defRPr sz="1500" b="1">
                <a:solidFill>
                  <a:srgbClr val="10B981"/>
                </a:solidFill>
                <a:latin typeface="Arial"/>
              </a:defRPr>
            </a:pPr>
            <a:r>
              <a:t>Driver Cockpit: Dynamic Rolling QR</a:t>
            </a:r>
          </a:p>
          <a:p>
            <a:pPr>
              <a:spcAft>
                <a:spcPts val="400"/>
              </a:spcAft>
              <a:defRPr sz="1100">
                <a:solidFill>
                  <a:srgbClr val="CBD5E1"/>
                </a:solidFill>
                <a:latin typeface="Arial"/>
              </a:defRPr>
            </a:pPr>
            <a:r>
              <a:t>• Time-Bounded Nonce: Max 10-minute validity window.</a:t>
            </a:r>
          </a:p>
          <a:p>
            <a:pPr>
              <a:spcAft>
                <a:spcPts val="400"/>
              </a:spcAft>
              <a:defRPr sz="1100">
                <a:solidFill>
                  <a:srgbClr val="CBD5E1"/>
                </a:solidFill>
                <a:latin typeface="Arial"/>
              </a:defRPr>
            </a:pPr>
            <a:r>
              <a:t>• Auto-Rotation: Fresh token generated every 60 seconds.</a:t>
            </a:r>
          </a:p>
          <a:p>
            <a:pPr>
              <a:spcAft>
                <a:spcPts val="400"/>
              </a:spcAft>
              <a:defRPr sz="1100">
                <a:solidFill>
                  <a:srgbClr val="CBD5E1"/>
                </a:solidFill>
                <a:latin typeface="Arial"/>
              </a:defRPr>
            </a:pPr>
            <a:r>
              <a:t>• Cryptographic Payload:</a:t>
            </a:r>
          </a:p>
          <a:p>
            <a:pPr>
              <a:spcAft>
                <a:spcPts val="400"/>
              </a:spcAft>
              <a:defRPr sz="1100">
                <a:solidFill>
                  <a:srgbClr val="CBD5E1"/>
                </a:solidFill>
                <a:latin typeface="Arial"/>
              </a:defRPr>
            </a:pPr>
            <a:r>
              <a:t>•   { tanker_id, driver_id, timestamp, nonce, coords }</a:t>
            </a:r>
          </a:p>
          <a:p>
            <a:pPr>
              <a:spcAft>
                <a:spcPts val="400"/>
              </a:spcAft>
              <a:defRPr sz="1100">
                <a:solidFill>
                  <a:srgbClr val="CBD5E1"/>
                </a:solidFill>
                <a:latin typeface="Arial"/>
              </a:defRPr>
            </a:pPr>
            <a:r>
              <a:t>• HMAC-SHA256 signature using driver hardware secret.</a:t>
            </a:r>
          </a:p>
          <a:p>
            <a:pPr>
              <a:spcAft>
                <a:spcPts val="400"/>
              </a:spcAft>
              <a:defRPr sz="1100">
                <a:solidFill>
                  <a:srgbClr val="CBD5E1"/>
                </a:solidFill>
                <a:latin typeface="Arial"/>
              </a:defRPr>
            </a:pPr>
            <a:r>
              <a:t>• Anti-Forwarding: Tokens shared via WhatsApp expire instantly.</a:t>
            </a:r>
          </a:p>
          <a:p>
            <a:pPr>
              <a:spcAft>
                <a:spcPts val="400"/>
              </a:spcAft>
              <a:defRPr sz="1100">
                <a:solidFill>
                  <a:srgbClr val="CBD5E1"/>
                </a:solidFill>
                <a:latin typeface="Arial"/>
              </a:defRPr>
            </a:pPr>
            <a:r>
              <a:t>• Zero-Connectivity: Signs offline using pre-synced session secrets.</a:t>
            </a:r>
          </a:p>
        </p:txBody>
      </p:sp>
      <p:sp>
        <p:nvSpPr>
          <p:cNvPr id="8" name="Rounded Rectangle 7"/>
          <p:cNvSpPr/>
          <p:nvPr/>
        </p:nvSpPr>
        <p:spPr>
          <a:xfrm>
            <a:off x="6272784" y="2011680"/>
            <a:ext cx="5175504" cy="4297680"/>
          </a:xfrm>
          <a:prstGeom prst="roundRect">
            <a:avLst/>
          </a:prstGeom>
          <a:solidFill>
            <a:srgbClr val="0B1426"/>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55664" y="2194560"/>
            <a:ext cx="4809744" cy="3931920"/>
          </a:xfrm>
          <a:prstGeom prst="rect">
            <a:avLst/>
          </a:prstGeom>
          <a:noFill/>
        </p:spPr>
        <p:txBody>
          <a:bodyPr wrap="square" lIns="0" tIns="0" rIns="0" bIns="0">
            <a:spAutoFit/>
          </a:bodyPr>
          <a:lstStyle/>
          <a:p>
            <a:pPr>
              <a:spcAft>
                <a:spcPts val="800"/>
              </a:spcAft>
              <a:defRPr sz="1500" b="1">
                <a:solidFill>
                  <a:srgbClr val="00E5FF"/>
                </a:solidFill>
                <a:latin typeface="Arial"/>
              </a:defRPr>
            </a:pPr>
            <a:r>
              <a:t>Panchayat Verifier: Optical Attestation</a:t>
            </a:r>
          </a:p>
          <a:p>
            <a:pPr>
              <a:spcAft>
                <a:spcPts val="400"/>
              </a:spcAft>
              <a:defRPr sz="1100">
                <a:solidFill>
                  <a:srgbClr val="CBD5E1"/>
                </a:solidFill>
                <a:latin typeface="Arial"/>
              </a:defRPr>
            </a:pPr>
            <a:r>
              <a:t>• 1. WebRTC Optical Camera Scan:</a:t>
            </a:r>
          </a:p>
          <a:p>
            <a:pPr>
              <a:spcAft>
                <a:spcPts val="400"/>
              </a:spcAft>
              <a:defRPr sz="1100">
                <a:solidFill>
                  <a:srgbClr val="CBD5E1"/>
                </a:solidFill>
                <a:latin typeface="Arial"/>
              </a:defRPr>
            </a:pPr>
            <a:r>
              <a:t>•    Sarpanch scans driver's dynamic QR code on arrival.</a:t>
            </a:r>
          </a:p>
          <a:p>
            <a:pPr>
              <a:spcAft>
                <a:spcPts val="400"/>
              </a:spcAft>
              <a:defRPr sz="1100">
                <a:solidFill>
                  <a:srgbClr val="CBD5E1"/>
                </a:solidFill>
                <a:latin typeface="Arial"/>
              </a:defRPr>
            </a:pPr>
            <a:r>
              <a:t>• 2. Dual-Factor Geofencing Lock:</a:t>
            </a:r>
          </a:p>
          <a:p>
            <a:pPr>
              <a:spcAft>
                <a:spcPts val="400"/>
              </a:spcAft>
              <a:defRPr sz="1100">
                <a:solidFill>
                  <a:srgbClr val="CBD5E1"/>
                </a:solidFill>
                <a:latin typeface="Arial"/>
              </a:defRPr>
            </a:pPr>
            <a:r>
              <a:t>•    Calculates Haversine distance from cistern (strictly &lt;=100m).</a:t>
            </a:r>
          </a:p>
          <a:p>
            <a:pPr>
              <a:spcAft>
                <a:spcPts val="400"/>
              </a:spcAft>
              <a:defRPr sz="1100">
                <a:solidFill>
                  <a:srgbClr val="CBD5E1"/>
                </a:solidFill>
                <a:latin typeface="Arial"/>
              </a:defRPr>
            </a:pPr>
            <a:r>
              <a:t>• 3. Cryptographic Nonce Deduplication:</a:t>
            </a:r>
          </a:p>
          <a:p>
            <a:pPr>
              <a:spcAft>
                <a:spcPts val="400"/>
              </a:spcAft>
              <a:defRPr sz="1100">
                <a:solidFill>
                  <a:srgbClr val="CBD5E1"/>
                </a:solidFill>
                <a:latin typeface="Arial"/>
              </a:defRPr>
            </a:pPr>
            <a:r>
              <a:t>•    Prevents replay attacks; each token redeemed exactly once.</a:t>
            </a:r>
          </a:p>
          <a:p>
            <a:pPr>
              <a:spcAft>
                <a:spcPts val="400"/>
              </a:spcAft>
              <a:defRPr sz="1100">
                <a:solidFill>
                  <a:srgbClr val="CBD5E1"/>
                </a:solidFill>
                <a:latin typeface="Arial"/>
              </a:defRPr>
            </a:pPr>
            <a:r>
              <a:t>• 4. Dual-Key Signature Generated:</a:t>
            </a:r>
          </a:p>
          <a:p>
            <a:pPr>
              <a:spcAft>
                <a:spcPts val="400"/>
              </a:spcAft>
              <a:defRPr sz="1100">
                <a:solidFill>
                  <a:srgbClr val="CBD5E1"/>
                </a:solidFill>
                <a:latin typeface="Arial"/>
              </a:defRPr>
            </a:pPr>
            <a:r>
              <a:t>•    Driver Key + Panchayat Private Key attest delivery.</a:t>
            </a:r>
          </a:p>
          <a:p>
            <a:pPr>
              <a:spcAft>
                <a:spcPts val="400"/>
              </a:spcAft>
              <a:defRPr sz="1100">
                <a:solidFill>
                  <a:srgbClr val="CBD5E1"/>
                </a:solidFill>
                <a:latin typeface="Arial"/>
              </a:defRPr>
            </a:pPr>
            <a:r>
              <a:t>• 5. Automated Escrow Clearance:</a:t>
            </a:r>
          </a:p>
          <a:p>
            <a:pPr>
              <a:spcAft>
                <a:spcPts val="400"/>
              </a:spcAft>
              <a:defRPr sz="1100">
                <a:solidFill>
                  <a:srgbClr val="CBD5E1"/>
                </a:solidFill>
                <a:latin typeface="Arial"/>
              </a:defRPr>
            </a:pPr>
            <a:r>
              <a:t>•    Valid proof triggers treasury payment. Route anomalies trigger instant escrow freeze.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00E5FF"/>
                </a:solidFill>
                <a:latin typeface="Arial"/>
              </a:defRPr>
            </a:pPr>
            <a:r>
              <a:t>📈 OPERATIONS RESEARCH &amp; ROUTING</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600" b="1">
                <a:solidFill>
                  <a:srgbClr val="FFFFFF"/>
                </a:solidFill>
                <a:latin typeface="Arial"/>
              </a:defRPr>
            </a:pPr>
            <a:r>
              <a:t>Google OR-Tools Multi-Objective Fleet Solver</a:t>
            </a:r>
          </a:p>
        </p:txBody>
      </p:sp>
      <p:sp>
        <p:nvSpPr>
          <p:cNvPr id="5" name="TextBox 4"/>
          <p:cNvSpPr txBox="1"/>
          <p:nvPr/>
        </p:nvSpPr>
        <p:spPr>
          <a:xfrm>
            <a:off x="731520" y="1280160"/>
            <a:ext cx="10698480" cy="502920"/>
          </a:xfrm>
          <a:prstGeom prst="rect">
            <a:avLst/>
          </a:prstGeom>
          <a:noFill/>
        </p:spPr>
        <p:txBody>
          <a:bodyPr wrap="square" lIns="0" tIns="0" rIns="0" bIns="0">
            <a:spAutoFit/>
          </a:bodyPr>
          <a:lstStyle/>
          <a:p>
            <a:pPr>
              <a:defRPr sz="1300">
                <a:solidFill>
                  <a:srgbClr val="94A3B8"/>
                </a:solidFill>
                <a:latin typeface="Arial"/>
              </a:defRPr>
            </a:pPr>
            <a:r>
              <a:t>Transforming ad-hoc, politically influenced dispatch into mathematically optimal relief circuits.</a:t>
            </a:r>
          </a:p>
        </p:txBody>
      </p:sp>
      <p:sp>
        <p:nvSpPr>
          <p:cNvPr id="6" name="Rounded Rectangle 5"/>
          <p:cNvSpPr/>
          <p:nvPr/>
        </p:nvSpPr>
        <p:spPr>
          <a:xfrm>
            <a:off x="731520" y="2011680"/>
            <a:ext cx="3328416" cy="2286000"/>
          </a:xfrm>
          <a:prstGeom prst="roundRect">
            <a:avLst/>
          </a:prstGeom>
          <a:solidFill>
            <a:srgbClr val="0B142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94560"/>
            <a:ext cx="2962656" cy="1920240"/>
          </a:xfrm>
          <a:prstGeom prst="rect">
            <a:avLst/>
          </a:prstGeom>
          <a:noFill/>
        </p:spPr>
        <p:txBody>
          <a:bodyPr wrap="square" lIns="0" tIns="0" rIns="0" bIns="0">
            <a:spAutoFit/>
          </a:bodyPr>
          <a:lstStyle/>
          <a:p>
            <a:pPr>
              <a:defRPr sz="2800" b="1">
                <a:solidFill>
                  <a:srgbClr val="10B981"/>
                </a:solidFill>
                <a:latin typeface="Arial"/>
              </a:defRPr>
            </a:pPr>
            <a:r>
              <a:t>-28.4%</a:t>
            </a:r>
          </a:p>
          <a:p>
            <a:pPr>
              <a:spcAft>
                <a:spcPts val="800"/>
              </a:spcAft>
              <a:defRPr sz="1200" b="1">
                <a:solidFill>
                  <a:srgbClr val="FFFFFF"/>
                </a:solidFill>
                <a:latin typeface="Arial"/>
              </a:defRPr>
            </a:pPr>
            <a:r>
              <a:t>Diesel Burn Reduction</a:t>
            </a:r>
          </a:p>
          <a:p>
            <a:pPr>
              <a:spcAft>
                <a:spcPts val="800"/>
              </a:spcAft>
              <a:defRPr sz="1500" b="1">
                <a:solidFill>
                  <a:srgbClr val="FFFFFF"/>
                </a:solidFill>
                <a:latin typeface="Arial"/>
              </a:defRPr>
            </a:pPr>
            <a:r>
              <a:t>Fuel Conservation</a:t>
            </a:r>
          </a:p>
          <a:p>
            <a:pPr>
              <a:spcAft>
                <a:spcPts val="400"/>
              </a:spcAft>
              <a:defRPr sz="1100">
                <a:solidFill>
                  <a:srgbClr val="CBD5E1"/>
                </a:solidFill>
                <a:latin typeface="Arial"/>
              </a:defRPr>
            </a:pPr>
            <a:r>
              <a:t>• Eliminates crisscrossing routes.</a:t>
            </a:r>
          </a:p>
          <a:p>
            <a:pPr>
              <a:spcAft>
                <a:spcPts val="400"/>
              </a:spcAft>
              <a:defRPr sz="1100">
                <a:solidFill>
                  <a:srgbClr val="CBD5E1"/>
                </a:solidFill>
                <a:latin typeface="Arial"/>
              </a:defRPr>
            </a:pPr>
            <a:r>
              <a:t>• Minimizes empty return trips from central water headworks.</a:t>
            </a:r>
          </a:p>
        </p:txBody>
      </p:sp>
      <p:sp>
        <p:nvSpPr>
          <p:cNvPr id="8" name="Rounded Rectangle 7"/>
          <p:cNvSpPr/>
          <p:nvPr/>
        </p:nvSpPr>
        <p:spPr>
          <a:xfrm>
            <a:off x="4425696" y="2011680"/>
            <a:ext cx="3328416" cy="2286000"/>
          </a:xfrm>
          <a:prstGeom prst="roundRect">
            <a:avLst/>
          </a:prstGeom>
          <a:solidFill>
            <a:srgbClr val="0B1426"/>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8576" y="2194560"/>
            <a:ext cx="2962656" cy="1920240"/>
          </a:xfrm>
          <a:prstGeom prst="rect">
            <a:avLst/>
          </a:prstGeom>
          <a:noFill/>
        </p:spPr>
        <p:txBody>
          <a:bodyPr wrap="square" lIns="0" tIns="0" rIns="0" bIns="0">
            <a:spAutoFit/>
          </a:bodyPr>
          <a:lstStyle/>
          <a:p>
            <a:pPr>
              <a:defRPr sz="2800" b="1">
                <a:solidFill>
                  <a:srgbClr val="00E5FF"/>
                </a:solidFill>
                <a:latin typeface="Arial"/>
              </a:defRPr>
            </a:pPr>
            <a:r>
              <a:t>100%</a:t>
            </a:r>
          </a:p>
          <a:p>
            <a:pPr>
              <a:spcAft>
                <a:spcPts val="800"/>
              </a:spcAft>
              <a:defRPr sz="1200" b="1">
                <a:solidFill>
                  <a:srgbClr val="FFFFFF"/>
                </a:solidFill>
                <a:latin typeface="Arial"/>
              </a:defRPr>
            </a:pPr>
            <a:r>
              <a:t>Article 21 Fulfillment</a:t>
            </a:r>
          </a:p>
          <a:p>
            <a:pPr>
              <a:spcAft>
                <a:spcPts val="800"/>
              </a:spcAft>
              <a:defRPr sz="1500" b="1">
                <a:solidFill>
                  <a:srgbClr val="FFFFFF"/>
                </a:solidFill>
                <a:latin typeface="Arial"/>
              </a:defRPr>
            </a:pPr>
            <a:r>
              <a:t>Statutory Quota Guarantee</a:t>
            </a:r>
          </a:p>
          <a:p>
            <a:pPr>
              <a:spcAft>
                <a:spcPts val="400"/>
              </a:spcAft>
              <a:defRPr sz="1100">
                <a:solidFill>
                  <a:srgbClr val="CBD5E1"/>
                </a:solidFill>
                <a:latin typeface="Arial"/>
              </a:defRPr>
            </a:pPr>
            <a:r>
              <a:t>• 40 Liters/capita/day for humans.</a:t>
            </a:r>
          </a:p>
          <a:p>
            <a:pPr>
              <a:spcAft>
                <a:spcPts val="400"/>
              </a:spcAft>
              <a:defRPr sz="1100">
                <a:solidFill>
                  <a:srgbClr val="CBD5E1"/>
                </a:solidFill>
                <a:latin typeface="Arial"/>
              </a:defRPr>
            </a:pPr>
            <a:r>
              <a:t>• 70 Liters/head/day for cattle.</a:t>
            </a:r>
          </a:p>
          <a:p>
            <a:pPr>
              <a:spcAft>
                <a:spcPts val="400"/>
              </a:spcAft>
              <a:defRPr sz="1100">
                <a:solidFill>
                  <a:srgbClr val="CBD5E1"/>
                </a:solidFill>
                <a:latin typeface="Arial"/>
              </a:defRPr>
            </a:pPr>
            <a:r>
              <a:t>• Enforces Article 21 fundamental rights.</a:t>
            </a:r>
          </a:p>
        </p:txBody>
      </p:sp>
      <p:sp>
        <p:nvSpPr>
          <p:cNvPr id="10" name="Rounded Rectangle 9"/>
          <p:cNvSpPr/>
          <p:nvPr/>
        </p:nvSpPr>
        <p:spPr>
          <a:xfrm>
            <a:off x="8119872" y="2011680"/>
            <a:ext cx="3328416" cy="2286000"/>
          </a:xfrm>
          <a:prstGeom prst="roundRect">
            <a:avLst/>
          </a:prstGeom>
          <a:solidFill>
            <a:srgbClr val="0B142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2752" y="2194560"/>
            <a:ext cx="2962656" cy="1920240"/>
          </a:xfrm>
          <a:prstGeom prst="rect">
            <a:avLst/>
          </a:prstGeom>
          <a:noFill/>
        </p:spPr>
        <p:txBody>
          <a:bodyPr wrap="square" lIns="0" tIns="0" rIns="0" bIns="0">
            <a:spAutoFit/>
          </a:bodyPr>
          <a:lstStyle/>
          <a:p>
            <a:pPr>
              <a:defRPr sz="2800" b="1">
                <a:solidFill>
                  <a:srgbClr val="F59E0B"/>
                </a:solidFill>
                <a:latin typeface="Arial"/>
              </a:defRPr>
            </a:pPr>
            <a:r>
              <a:t>0</a:t>
            </a:r>
          </a:p>
          <a:p>
            <a:pPr>
              <a:spcAft>
                <a:spcPts val="800"/>
              </a:spcAft>
              <a:defRPr sz="1200" b="1">
                <a:solidFill>
                  <a:srgbClr val="FFFFFF"/>
                </a:solidFill>
                <a:latin typeface="Arial"/>
              </a:defRPr>
            </a:pPr>
            <a:r>
              <a:t>Skipped Vulnerable Hamlets</a:t>
            </a:r>
          </a:p>
          <a:p>
            <a:pPr>
              <a:spcAft>
                <a:spcPts val="800"/>
              </a:spcAft>
              <a:defRPr sz="1500" b="1">
                <a:solidFill>
                  <a:srgbClr val="FFFFFF"/>
                </a:solidFill>
                <a:latin typeface="Arial"/>
              </a:defRPr>
            </a:pPr>
            <a:r>
              <a:t>Social Equity</a:t>
            </a:r>
          </a:p>
          <a:p>
            <a:pPr>
              <a:spcAft>
                <a:spcPts val="400"/>
              </a:spcAft>
              <a:defRPr sz="1100">
                <a:solidFill>
                  <a:srgbClr val="CBD5E1"/>
                </a:solidFill>
                <a:latin typeface="Arial"/>
              </a:defRPr>
            </a:pPr>
            <a:r>
              <a:t>• Prevents bypassed fringe hamlets.</a:t>
            </a:r>
          </a:p>
          <a:p>
            <a:pPr>
              <a:spcAft>
                <a:spcPts val="400"/>
              </a:spcAft>
              <a:defRPr sz="1100">
                <a:solidFill>
                  <a:srgbClr val="CBD5E1"/>
                </a:solidFill>
                <a:latin typeface="Arial"/>
              </a:defRPr>
            </a:pPr>
            <a:r>
              <a:t>• Impartial, algorithmic multi-stop scheduling.</a:t>
            </a:r>
          </a:p>
        </p:txBody>
      </p:sp>
      <p:sp>
        <p:nvSpPr>
          <p:cNvPr id="12" name="Rounded Rectangle 11"/>
          <p:cNvSpPr/>
          <p:nvPr/>
        </p:nvSpPr>
        <p:spPr>
          <a:xfrm>
            <a:off x="731520" y="4526280"/>
            <a:ext cx="10716768" cy="1783080"/>
          </a:xfrm>
          <a:prstGeom prst="roundRect">
            <a:avLst/>
          </a:prstGeom>
          <a:solidFill>
            <a:srgbClr val="0B1426"/>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709160"/>
            <a:ext cx="10351008" cy="1417319"/>
          </a:xfrm>
          <a:prstGeom prst="rect">
            <a:avLst/>
          </a:prstGeom>
          <a:noFill/>
        </p:spPr>
        <p:txBody>
          <a:bodyPr wrap="square" lIns="0" tIns="0" rIns="0" bIns="0">
            <a:spAutoFit/>
          </a:bodyPr>
          <a:lstStyle/>
          <a:p>
            <a:pPr>
              <a:spcAft>
                <a:spcPts val="800"/>
              </a:spcAft>
              <a:defRPr sz="1500" b="1">
                <a:solidFill>
                  <a:srgbClr val="00E5FF"/>
                </a:solidFill>
                <a:latin typeface="Arial"/>
              </a:defRPr>
            </a:pPr>
            <a:r>
              <a:t>Capacitated Vehicle Routing Problem (CVRP) Formulation:</a:t>
            </a:r>
          </a:p>
          <a:p>
            <a:pPr>
              <a:spcAft>
                <a:spcPts val="400"/>
              </a:spcAft>
              <a:defRPr sz="1100">
                <a:solidFill>
                  <a:srgbClr val="CBD5E1"/>
                </a:solidFill>
                <a:latin typeface="Arial"/>
              </a:defRPr>
            </a:pPr>
            <a:r>
              <a:t>• • Inputs: Departs multi-capacity fleet (5,000L / 10,000L / 12,000L) from Kapurbawdi &amp; Sinnar municipal headworks.</a:t>
            </a:r>
          </a:p>
          <a:p>
            <a:pPr>
              <a:spcAft>
                <a:spcPts val="400"/>
              </a:spcAft>
              <a:defRPr sz="1100">
                <a:solidFill>
                  <a:srgbClr val="CBD5E1"/>
                </a:solidFill>
                <a:latin typeface="Arial"/>
              </a:defRPr>
            </a:pPr>
            <a:r>
              <a:t>• • Constraints: Dynamic village cistern depletion curves, road gradient factors, vehicle weight limits, and driver shift ceilings.</a:t>
            </a:r>
          </a:p>
          <a:p>
            <a:pPr>
              <a:spcAft>
                <a:spcPts val="400"/>
              </a:spcAft>
              <a:defRPr sz="1100">
                <a:solidFill>
                  <a:srgbClr val="CBD5E1"/>
                </a:solidFill>
                <a:latin typeface="Arial"/>
              </a:defRPr>
            </a:pPr>
            <a:r>
              <a:t>• • Output: Automated turn-by-turn route manifests dispatched straight to drivers' mobile cockpits, cutting thousands of wasted kilometers.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00E5FF"/>
                </a:solidFill>
                <a:latin typeface="Arial"/>
              </a:defRPr>
            </a:pPr>
            <a:r>
              <a:t>🖥️ FIELD TOUCHPOINTS &amp; INTERFACES</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600" b="1">
                <a:solidFill>
                  <a:srgbClr val="FFFFFF"/>
                </a:solidFill>
                <a:latin typeface="Arial"/>
              </a:defRPr>
            </a:pPr>
            <a:r>
              <a:t>Four Tailored Touchpoints for Disaster Governance</a:t>
            </a:r>
          </a:p>
        </p:txBody>
      </p:sp>
      <p:sp>
        <p:nvSpPr>
          <p:cNvPr id="5" name="TextBox 4"/>
          <p:cNvSpPr txBox="1"/>
          <p:nvPr/>
        </p:nvSpPr>
        <p:spPr>
          <a:xfrm>
            <a:off x="731520" y="1280160"/>
            <a:ext cx="10698480" cy="502920"/>
          </a:xfrm>
          <a:prstGeom prst="rect">
            <a:avLst/>
          </a:prstGeom>
          <a:noFill/>
        </p:spPr>
        <p:txBody>
          <a:bodyPr wrap="square" lIns="0" tIns="0" rIns="0" bIns="0">
            <a:spAutoFit/>
          </a:bodyPr>
          <a:lstStyle/>
          <a:p>
            <a:pPr>
              <a:defRPr sz="1300">
                <a:solidFill>
                  <a:srgbClr val="94A3B8"/>
                </a:solidFill>
                <a:latin typeface="Arial"/>
              </a:defRPr>
            </a:pPr>
            <a:r>
              <a:t>Engineered specifically for the realities of rural disaster administration with zero training barrier.</a:t>
            </a:r>
          </a:p>
        </p:txBody>
      </p:sp>
      <p:sp>
        <p:nvSpPr>
          <p:cNvPr id="6" name="Rounded Rectangle 5"/>
          <p:cNvSpPr/>
          <p:nvPr/>
        </p:nvSpPr>
        <p:spPr>
          <a:xfrm>
            <a:off x="731520" y="2011680"/>
            <a:ext cx="2450592" cy="4297680"/>
          </a:xfrm>
          <a:prstGeom prst="roundRect">
            <a:avLst/>
          </a:prstGeom>
          <a:solidFill>
            <a:srgbClr val="0B1426"/>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94560"/>
            <a:ext cx="2084832" cy="3931920"/>
          </a:xfrm>
          <a:prstGeom prst="rect">
            <a:avLst/>
          </a:prstGeom>
          <a:noFill/>
        </p:spPr>
        <p:txBody>
          <a:bodyPr wrap="square" lIns="0" tIns="0" rIns="0" bIns="0">
            <a:spAutoFit/>
          </a:bodyPr>
          <a:lstStyle/>
          <a:p>
            <a:pPr>
              <a:spcAft>
                <a:spcPts val="800"/>
              </a:spcAft>
              <a:defRPr sz="1500" b="1">
                <a:solidFill>
                  <a:srgbClr val="00E5FF"/>
                </a:solidFill>
                <a:latin typeface="Arial"/>
              </a:defRPr>
            </a:pPr>
            <a:r>
              <a:t>🏛️ Collector Command</a:t>
            </a:r>
          </a:p>
          <a:p>
            <a:pPr>
              <a:spcAft>
                <a:spcPts val="400"/>
              </a:spcAft>
              <a:defRPr sz="1100">
                <a:solidFill>
                  <a:srgbClr val="CBD5E1"/>
                </a:solidFill>
                <a:latin typeface="Arial"/>
              </a:defRPr>
            </a:pPr>
            <a:r>
              <a:t>• Target: District Collector &amp; Disaster Authority</a:t>
            </a:r>
          </a:p>
          <a:p>
            <a:pPr>
              <a:spcAft>
                <a:spcPts val="400"/>
              </a:spcAft>
              <a:defRPr sz="1100">
                <a:solidFill>
                  <a:srgbClr val="CBD5E1"/>
                </a:solidFill>
                <a:latin typeface="Arial"/>
              </a:defRPr>
            </a:pPr>
            <a:r>
              <a:t>• • 3D GIS satellite map.</a:t>
            </a:r>
          </a:p>
          <a:p>
            <a:pPr>
              <a:spcAft>
                <a:spcPts val="400"/>
              </a:spcAft>
              <a:defRPr sz="1100">
                <a:solidFill>
                  <a:srgbClr val="CBD5E1"/>
                </a:solidFill>
                <a:latin typeface="Arial"/>
              </a:defRPr>
            </a:pPr>
            <a:r>
              <a:t>• • Real-time tanker anomaly radar.</a:t>
            </a:r>
          </a:p>
          <a:p>
            <a:pPr>
              <a:spcAft>
                <a:spcPts val="400"/>
              </a:spcAft>
              <a:defRPr sz="1100">
                <a:solidFill>
                  <a:srgbClr val="CBD5E1"/>
                </a:solidFill>
                <a:latin typeface="Arial"/>
              </a:defRPr>
            </a:pPr>
            <a:r>
              <a:t>• • Instant contractor escrow freeze.</a:t>
            </a:r>
          </a:p>
          <a:p>
            <a:pPr>
              <a:spcAft>
                <a:spcPts val="400"/>
              </a:spcAft>
              <a:defRPr sz="1100">
                <a:solidFill>
                  <a:srgbClr val="CBD5E1"/>
                </a:solidFill>
                <a:latin typeface="Arial"/>
              </a:defRPr>
            </a:pPr>
            <a:r>
              <a:t>• • Automated Relief Order PDF dispatch.</a:t>
            </a:r>
          </a:p>
        </p:txBody>
      </p:sp>
      <p:sp>
        <p:nvSpPr>
          <p:cNvPr id="8" name="Rounded Rectangle 7"/>
          <p:cNvSpPr/>
          <p:nvPr/>
        </p:nvSpPr>
        <p:spPr>
          <a:xfrm>
            <a:off x="3483864" y="2011680"/>
            <a:ext cx="2450592" cy="4297680"/>
          </a:xfrm>
          <a:prstGeom prst="roundRect">
            <a:avLst/>
          </a:prstGeom>
          <a:solidFill>
            <a:srgbClr val="0B142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6744" y="2194560"/>
            <a:ext cx="2084832" cy="3931920"/>
          </a:xfrm>
          <a:prstGeom prst="rect">
            <a:avLst/>
          </a:prstGeom>
          <a:noFill/>
        </p:spPr>
        <p:txBody>
          <a:bodyPr wrap="square" lIns="0" tIns="0" rIns="0" bIns="0">
            <a:spAutoFit/>
          </a:bodyPr>
          <a:lstStyle/>
          <a:p>
            <a:pPr>
              <a:spcAft>
                <a:spcPts val="800"/>
              </a:spcAft>
              <a:defRPr sz="1500" b="1">
                <a:solidFill>
                  <a:srgbClr val="10B981"/>
                </a:solidFill>
                <a:latin typeface="Arial"/>
              </a:defRPr>
            </a:pPr>
            <a:r>
              <a:t>🚛 Tanker Pilot Cockpit</a:t>
            </a:r>
          </a:p>
          <a:p>
            <a:pPr>
              <a:spcAft>
                <a:spcPts val="400"/>
              </a:spcAft>
              <a:defRPr sz="1100">
                <a:solidFill>
                  <a:srgbClr val="CBD5E1"/>
                </a:solidFill>
                <a:latin typeface="Arial"/>
              </a:defRPr>
            </a:pPr>
            <a:r>
              <a:t>• Target: Municipal Tanker Drivers</a:t>
            </a:r>
          </a:p>
          <a:p>
            <a:pPr>
              <a:spcAft>
                <a:spcPts val="400"/>
              </a:spcAft>
              <a:defRPr sz="1100">
                <a:solidFill>
                  <a:srgbClr val="CBD5E1"/>
                </a:solidFill>
                <a:latin typeface="Arial"/>
              </a:defRPr>
            </a:pPr>
            <a:r>
              <a:t>• • Offline-first mobile PWA.</a:t>
            </a:r>
          </a:p>
          <a:p>
            <a:pPr>
              <a:spcAft>
                <a:spcPts val="400"/>
              </a:spcAft>
              <a:defRPr sz="1100">
                <a:solidFill>
                  <a:srgbClr val="CBD5E1"/>
                </a:solidFill>
                <a:latin typeface="Arial"/>
              </a:defRPr>
            </a:pPr>
            <a:r>
              <a:t>• • GPS arrival verification lock.</a:t>
            </a:r>
          </a:p>
          <a:p>
            <a:pPr>
              <a:spcAft>
                <a:spcPts val="400"/>
              </a:spcAft>
              <a:defRPr sz="1100">
                <a:solidFill>
                  <a:srgbClr val="CBD5E1"/>
                </a:solidFill>
                <a:latin typeface="Arial"/>
              </a:defRPr>
            </a:pPr>
            <a:r>
              <a:t>• • Dynamic encrypted QR generator.</a:t>
            </a:r>
          </a:p>
          <a:p>
            <a:pPr>
              <a:spcAft>
                <a:spcPts val="400"/>
              </a:spcAft>
              <a:defRPr sz="1100">
                <a:solidFill>
                  <a:srgbClr val="CBD5E1"/>
                </a:solidFill>
                <a:latin typeface="Arial"/>
              </a:defRPr>
            </a:pPr>
            <a:r>
              <a:t>• • Emergency SOS panic beacon.</a:t>
            </a:r>
          </a:p>
          <a:p>
            <a:pPr>
              <a:spcAft>
                <a:spcPts val="400"/>
              </a:spcAft>
              <a:defRPr sz="1100">
                <a:solidFill>
                  <a:srgbClr val="CBD5E1"/>
                </a:solidFill>
                <a:latin typeface="Arial"/>
              </a:defRPr>
            </a:pPr>
            <a:r>
              <a:t>• • Turn-by-turn route manifests.</a:t>
            </a:r>
          </a:p>
        </p:txBody>
      </p:sp>
      <p:sp>
        <p:nvSpPr>
          <p:cNvPr id="10" name="Rounded Rectangle 9"/>
          <p:cNvSpPr/>
          <p:nvPr/>
        </p:nvSpPr>
        <p:spPr>
          <a:xfrm>
            <a:off x="6236208" y="2011680"/>
            <a:ext cx="2450592" cy="4297680"/>
          </a:xfrm>
          <a:prstGeom prst="roundRect">
            <a:avLst/>
          </a:prstGeom>
          <a:solidFill>
            <a:srgbClr val="0B142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9088" y="2194560"/>
            <a:ext cx="2084832" cy="3931920"/>
          </a:xfrm>
          <a:prstGeom prst="rect">
            <a:avLst/>
          </a:prstGeom>
          <a:noFill/>
        </p:spPr>
        <p:txBody>
          <a:bodyPr wrap="square" lIns="0" tIns="0" rIns="0" bIns="0">
            <a:spAutoFit/>
          </a:bodyPr>
          <a:lstStyle/>
          <a:p>
            <a:pPr>
              <a:spcAft>
                <a:spcPts val="800"/>
              </a:spcAft>
              <a:defRPr sz="1500" b="1">
                <a:solidFill>
                  <a:srgbClr val="F59E0B"/>
                </a:solidFill>
                <a:latin typeface="Arial"/>
              </a:defRPr>
            </a:pPr>
            <a:r>
              <a:t>🌾 Panchayat Verifier</a:t>
            </a:r>
          </a:p>
          <a:p>
            <a:pPr>
              <a:spcAft>
                <a:spcPts val="400"/>
              </a:spcAft>
              <a:defRPr sz="1100">
                <a:solidFill>
                  <a:srgbClr val="CBD5E1"/>
                </a:solidFill>
                <a:latin typeface="Arial"/>
              </a:defRPr>
            </a:pPr>
            <a:r>
              <a:t>• Target: Village Sarpanch &amp; Water Committee</a:t>
            </a:r>
          </a:p>
          <a:p>
            <a:pPr>
              <a:spcAft>
                <a:spcPts val="400"/>
              </a:spcAft>
              <a:defRPr sz="1100">
                <a:solidFill>
                  <a:srgbClr val="CBD5E1"/>
                </a:solidFill>
                <a:latin typeface="Arial"/>
              </a:defRPr>
            </a:pPr>
            <a:r>
              <a:t>• • WebRTC browser optical camera scanner.</a:t>
            </a:r>
          </a:p>
          <a:p>
            <a:pPr>
              <a:spcAft>
                <a:spcPts val="400"/>
              </a:spcAft>
              <a:defRPr sz="1100">
                <a:solidFill>
                  <a:srgbClr val="CBD5E1"/>
                </a:solidFill>
                <a:latin typeface="Arial"/>
              </a:defRPr>
            </a:pPr>
            <a:r>
              <a:t>• • Cistern level gauge visualizer.</a:t>
            </a:r>
          </a:p>
          <a:p>
            <a:pPr>
              <a:spcAft>
                <a:spcPts val="400"/>
              </a:spcAft>
              <a:defRPr sz="1100">
                <a:solidFill>
                  <a:srgbClr val="CBD5E1"/>
                </a:solidFill>
                <a:latin typeface="Arial"/>
              </a:defRPr>
            </a:pPr>
            <a:r>
              <a:t>• • Offline delivery attestation queue.</a:t>
            </a:r>
          </a:p>
          <a:p>
            <a:pPr>
              <a:spcAft>
                <a:spcPts val="400"/>
              </a:spcAft>
              <a:defRPr sz="1100">
                <a:solidFill>
                  <a:srgbClr val="CBD5E1"/>
                </a:solidFill>
                <a:latin typeface="Arial"/>
              </a:defRPr>
            </a:pPr>
            <a:r>
              <a:t>• • Zero app store install needed.</a:t>
            </a:r>
          </a:p>
        </p:txBody>
      </p:sp>
      <p:sp>
        <p:nvSpPr>
          <p:cNvPr id="12" name="Rounded Rectangle 11"/>
          <p:cNvSpPr/>
          <p:nvPr/>
        </p:nvSpPr>
        <p:spPr>
          <a:xfrm>
            <a:off x="8988552" y="2011680"/>
            <a:ext cx="2450592" cy="4297680"/>
          </a:xfrm>
          <a:prstGeom prst="roundRect">
            <a:avLst/>
          </a:prstGeom>
          <a:solidFill>
            <a:srgbClr val="0B1426"/>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71432" y="2194560"/>
            <a:ext cx="2084832" cy="3931920"/>
          </a:xfrm>
          <a:prstGeom prst="rect">
            <a:avLst/>
          </a:prstGeom>
          <a:noFill/>
        </p:spPr>
        <p:txBody>
          <a:bodyPr wrap="square" lIns="0" tIns="0" rIns="0" bIns="0">
            <a:spAutoFit/>
          </a:bodyPr>
          <a:lstStyle/>
          <a:p>
            <a:pPr>
              <a:spcAft>
                <a:spcPts val="800"/>
              </a:spcAft>
              <a:defRPr sz="1500" b="1">
                <a:solidFill>
                  <a:srgbClr val="00E5FF"/>
                </a:solidFill>
                <a:latin typeface="Arial"/>
              </a:defRPr>
            </a:pPr>
            <a:r>
              <a:t>🌐 Public Ledger</a:t>
            </a:r>
          </a:p>
          <a:p>
            <a:pPr>
              <a:spcAft>
                <a:spcPts val="400"/>
              </a:spcAft>
              <a:defRPr sz="1100">
                <a:solidFill>
                  <a:srgbClr val="CBD5E1"/>
                </a:solidFill>
                <a:latin typeface="Arial"/>
              </a:defRPr>
            </a:pPr>
            <a:r>
              <a:t>• Target: Citizens &amp; Media</a:t>
            </a:r>
          </a:p>
          <a:p>
            <a:pPr>
              <a:spcAft>
                <a:spcPts val="400"/>
              </a:spcAft>
              <a:defRPr sz="1100">
                <a:solidFill>
                  <a:srgbClr val="CBD5E1"/>
                </a:solidFill>
                <a:latin typeface="Arial"/>
              </a:defRPr>
            </a:pPr>
            <a:r>
              <a:t>• • Open sovereign audit trail.</a:t>
            </a:r>
          </a:p>
          <a:p>
            <a:pPr>
              <a:spcAft>
                <a:spcPts val="400"/>
              </a:spcAft>
              <a:defRPr sz="1100">
                <a:solidFill>
                  <a:srgbClr val="CBD5E1"/>
                </a:solidFill>
                <a:latin typeface="Arial"/>
              </a:defRPr>
            </a:pPr>
            <a:r>
              <a:t>• • Trilingual UI: English, मराठी (Marathi), हिंदी (Hindi).</a:t>
            </a:r>
          </a:p>
          <a:p>
            <a:pPr>
              <a:spcAft>
                <a:spcPts val="400"/>
              </a:spcAft>
              <a:defRPr sz="1100">
                <a:solidFill>
                  <a:srgbClr val="CBD5E1"/>
                </a:solidFill>
                <a:latin typeface="Arial"/>
              </a:defRPr>
            </a:pPr>
            <a:r>
              <a:t>• • Transparent delivery logs &amp; tanker accountability.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00E5FF"/>
                </a:solidFill>
                <a:latin typeface="Arial"/>
              </a:defRPr>
            </a:pPr>
            <a:r>
              <a:t>⚙️ ENGINEERING &amp; ARCHITECTURE</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600" b="1">
                <a:solidFill>
                  <a:srgbClr val="FFFFFF"/>
                </a:solidFill>
                <a:latin typeface="Arial"/>
              </a:defRPr>
            </a:pPr>
            <a:r>
              <a:t>Robust, Sovereign, Zero-Capex Technology Stack</a:t>
            </a:r>
          </a:p>
        </p:txBody>
      </p:sp>
      <p:sp>
        <p:nvSpPr>
          <p:cNvPr id="5" name="TextBox 4"/>
          <p:cNvSpPr txBox="1"/>
          <p:nvPr/>
        </p:nvSpPr>
        <p:spPr>
          <a:xfrm>
            <a:off x="731520" y="1280160"/>
            <a:ext cx="10698480" cy="502920"/>
          </a:xfrm>
          <a:prstGeom prst="rect">
            <a:avLst/>
          </a:prstGeom>
          <a:noFill/>
        </p:spPr>
        <p:txBody>
          <a:bodyPr wrap="square" lIns="0" tIns="0" rIns="0" bIns="0">
            <a:spAutoFit/>
          </a:bodyPr>
          <a:lstStyle/>
          <a:p>
            <a:pPr>
              <a:defRPr sz="1300">
                <a:solidFill>
                  <a:srgbClr val="94A3B8"/>
                </a:solidFill>
                <a:latin typeface="Arial"/>
              </a:defRPr>
            </a:pPr>
            <a:r>
              <a:t>Built with modern open standards for speed, high resilience, and sub-second execution.</a:t>
            </a:r>
          </a:p>
        </p:txBody>
      </p:sp>
      <p:sp>
        <p:nvSpPr>
          <p:cNvPr id="6" name="Rounded Rectangle 5"/>
          <p:cNvSpPr/>
          <p:nvPr/>
        </p:nvSpPr>
        <p:spPr>
          <a:xfrm>
            <a:off x="731520" y="2011680"/>
            <a:ext cx="2450592" cy="4297680"/>
          </a:xfrm>
          <a:prstGeom prst="roundRect">
            <a:avLst/>
          </a:prstGeom>
          <a:solidFill>
            <a:srgbClr val="0B1426"/>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94560"/>
            <a:ext cx="2084832" cy="3931920"/>
          </a:xfrm>
          <a:prstGeom prst="rect">
            <a:avLst/>
          </a:prstGeom>
          <a:noFill/>
        </p:spPr>
        <p:txBody>
          <a:bodyPr wrap="square" lIns="0" tIns="0" rIns="0" bIns="0">
            <a:spAutoFit/>
          </a:bodyPr>
          <a:lstStyle/>
          <a:p>
            <a:pPr>
              <a:spcAft>
                <a:spcPts val="800"/>
              </a:spcAft>
              <a:defRPr sz="1500" b="1">
                <a:solidFill>
                  <a:srgbClr val="00E5FF"/>
                </a:solidFill>
                <a:latin typeface="Arial"/>
              </a:defRPr>
            </a:pPr>
            <a:r>
              <a:t>Client / Frontend</a:t>
            </a:r>
          </a:p>
          <a:p>
            <a:pPr>
              <a:spcAft>
                <a:spcPts val="400"/>
              </a:spcAft>
              <a:defRPr sz="1100">
                <a:solidFill>
                  <a:srgbClr val="CBD5E1"/>
                </a:solidFill>
                <a:latin typeface="Arial"/>
              </a:defRPr>
            </a:pPr>
            <a:r>
              <a:t>• • HTML5 &amp; Modern Vanilla JS (Zero runtime bloat)</a:t>
            </a:r>
          </a:p>
          <a:p>
            <a:pPr>
              <a:spcAft>
                <a:spcPts val="400"/>
              </a:spcAft>
              <a:defRPr sz="1100">
                <a:solidFill>
                  <a:srgbClr val="CBD5E1"/>
                </a:solidFill>
                <a:latin typeface="Arial"/>
              </a:defRPr>
            </a:pPr>
            <a:r>
              <a:t>• • Precompiled Tailwind CSS (v3 pipeline)</a:t>
            </a:r>
          </a:p>
          <a:p>
            <a:pPr>
              <a:spcAft>
                <a:spcPts val="400"/>
              </a:spcAft>
              <a:defRPr sz="1100">
                <a:solidFill>
                  <a:srgbClr val="CBD5E1"/>
                </a:solidFill>
                <a:latin typeface="Arial"/>
              </a:defRPr>
            </a:pPr>
            <a:r>
              <a:t>• • Progressive Web App (PWA with sw.js)</a:t>
            </a:r>
          </a:p>
          <a:p>
            <a:pPr>
              <a:spcAft>
                <a:spcPts val="400"/>
              </a:spcAft>
              <a:defRPr sz="1100">
                <a:solidFill>
                  <a:srgbClr val="CBD5E1"/>
                </a:solidFill>
                <a:latin typeface="Arial"/>
              </a:defRPr>
            </a:pPr>
            <a:r>
              <a:t>• • IndexedDB (JalSanjeevaniDB) offline queue</a:t>
            </a:r>
          </a:p>
          <a:p>
            <a:pPr>
              <a:spcAft>
                <a:spcPts val="400"/>
              </a:spcAft>
              <a:defRPr sz="1100">
                <a:solidFill>
                  <a:srgbClr val="CBD5E1"/>
                </a:solidFill>
                <a:latin typeface="Arial"/>
              </a:defRPr>
            </a:pPr>
            <a:r>
              <a:t>• • WebRTC camera stream for QR decoding</a:t>
            </a:r>
          </a:p>
          <a:p>
            <a:pPr>
              <a:spcAft>
                <a:spcPts val="400"/>
              </a:spcAft>
              <a:defRPr sz="1100">
                <a:solidFill>
                  <a:srgbClr val="CBD5E1"/>
                </a:solidFill>
                <a:latin typeface="Arial"/>
              </a:defRPr>
            </a:pPr>
            <a:r>
              <a:t>• • Leaflet.js GIS mapping layers</a:t>
            </a:r>
          </a:p>
        </p:txBody>
      </p:sp>
      <p:sp>
        <p:nvSpPr>
          <p:cNvPr id="8" name="Rounded Rectangle 7"/>
          <p:cNvSpPr/>
          <p:nvPr/>
        </p:nvSpPr>
        <p:spPr>
          <a:xfrm>
            <a:off x="3483864" y="2011680"/>
            <a:ext cx="2450592" cy="4297680"/>
          </a:xfrm>
          <a:prstGeom prst="roundRect">
            <a:avLst/>
          </a:prstGeom>
          <a:solidFill>
            <a:srgbClr val="0B142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66744" y="2194560"/>
            <a:ext cx="2084832" cy="3931920"/>
          </a:xfrm>
          <a:prstGeom prst="rect">
            <a:avLst/>
          </a:prstGeom>
          <a:noFill/>
        </p:spPr>
        <p:txBody>
          <a:bodyPr wrap="square" lIns="0" tIns="0" rIns="0" bIns="0">
            <a:spAutoFit/>
          </a:bodyPr>
          <a:lstStyle/>
          <a:p>
            <a:pPr>
              <a:spcAft>
                <a:spcPts val="800"/>
              </a:spcAft>
              <a:defRPr sz="1500" b="1">
                <a:solidFill>
                  <a:srgbClr val="10B981"/>
                </a:solidFill>
                <a:latin typeface="Arial"/>
              </a:defRPr>
            </a:pPr>
            <a:r>
              <a:t>API &amp; Backend</a:t>
            </a:r>
          </a:p>
          <a:p>
            <a:pPr>
              <a:spcAft>
                <a:spcPts val="400"/>
              </a:spcAft>
              <a:defRPr sz="1100">
                <a:solidFill>
                  <a:srgbClr val="CBD5E1"/>
                </a:solidFill>
                <a:latin typeface="Arial"/>
              </a:defRPr>
            </a:pPr>
            <a:r>
              <a:t>• • Python 3.10+ &amp; FastAPI async engine</a:t>
            </a:r>
          </a:p>
          <a:p>
            <a:pPr>
              <a:spcAft>
                <a:spcPts val="400"/>
              </a:spcAft>
              <a:defRPr sz="1100">
                <a:solidFill>
                  <a:srgbClr val="CBD5E1"/>
                </a:solidFill>
                <a:latin typeface="Arial"/>
              </a:defRPr>
            </a:pPr>
            <a:r>
              <a:t>• • Uvicorn ASGI production server</a:t>
            </a:r>
          </a:p>
          <a:p>
            <a:pPr>
              <a:spcAft>
                <a:spcPts val="400"/>
              </a:spcAft>
              <a:defRPr sz="1100">
                <a:solidFill>
                  <a:srgbClr val="CBD5E1"/>
                </a:solidFill>
                <a:latin typeface="Arial"/>
              </a:defRPr>
            </a:pPr>
            <a:r>
              <a:t>• • Pydantic data schemas &amp; strict validation</a:t>
            </a:r>
          </a:p>
          <a:p>
            <a:pPr>
              <a:spcAft>
                <a:spcPts val="400"/>
              </a:spcAft>
              <a:defRPr sz="1100">
                <a:solidFill>
                  <a:srgbClr val="CBD5E1"/>
                </a:solidFill>
                <a:latin typeface="Arial"/>
              </a:defRPr>
            </a:pPr>
            <a:r>
              <a:t>• • Bcrypt password hashing (salt rounds = 12)</a:t>
            </a:r>
          </a:p>
          <a:p>
            <a:pPr>
              <a:spcAft>
                <a:spcPts val="400"/>
              </a:spcAft>
              <a:defRPr sz="1100">
                <a:solidFill>
                  <a:srgbClr val="CBD5E1"/>
                </a:solidFill>
                <a:latin typeface="Arial"/>
              </a:defRPr>
            </a:pPr>
            <a:r>
              <a:t>• • HMAC-SHA256 signature generation</a:t>
            </a:r>
          </a:p>
          <a:p>
            <a:pPr>
              <a:spcAft>
                <a:spcPts val="400"/>
              </a:spcAft>
              <a:defRPr sz="1100">
                <a:solidFill>
                  <a:srgbClr val="CBD5E1"/>
                </a:solidFill>
                <a:latin typeface="Arial"/>
              </a:defRPr>
            </a:pPr>
            <a:r>
              <a:t>• • Bearer JWT session auth</a:t>
            </a:r>
          </a:p>
        </p:txBody>
      </p:sp>
      <p:sp>
        <p:nvSpPr>
          <p:cNvPr id="10" name="Rounded Rectangle 9"/>
          <p:cNvSpPr/>
          <p:nvPr/>
        </p:nvSpPr>
        <p:spPr>
          <a:xfrm>
            <a:off x="6236208" y="2011680"/>
            <a:ext cx="2450592" cy="4297680"/>
          </a:xfrm>
          <a:prstGeom prst="roundRect">
            <a:avLst/>
          </a:prstGeom>
          <a:solidFill>
            <a:srgbClr val="0B142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9088" y="2194560"/>
            <a:ext cx="2084832" cy="3931920"/>
          </a:xfrm>
          <a:prstGeom prst="rect">
            <a:avLst/>
          </a:prstGeom>
          <a:noFill/>
        </p:spPr>
        <p:txBody>
          <a:bodyPr wrap="square" lIns="0" tIns="0" rIns="0" bIns="0">
            <a:spAutoFit/>
          </a:bodyPr>
          <a:lstStyle/>
          <a:p>
            <a:pPr>
              <a:spcAft>
                <a:spcPts val="800"/>
              </a:spcAft>
              <a:defRPr sz="1500" b="1">
                <a:solidFill>
                  <a:srgbClr val="F59E0B"/>
                </a:solidFill>
                <a:latin typeface="Arial"/>
              </a:defRPr>
            </a:pPr>
            <a:r>
              <a:t>AI &amp; Solvers</a:t>
            </a:r>
          </a:p>
          <a:p>
            <a:pPr>
              <a:spcAft>
                <a:spcPts val="400"/>
              </a:spcAft>
              <a:defRPr sz="1100">
                <a:solidFill>
                  <a:srgbClr val="CBD5E1"/>
                </a:solidFill>
                <a:latin typeface="Arial"/>
              </a:defRPr>
            </a:pPr>
            <a:r>
              <a:t>• • Google OR-Tools CVRP routing solver</a:t>
            </a:r>
          </a:p>
          <a:p>
            <a:pPr>
              <a:spcAft>
                <a:spcPts val="400"/>
              </a:spcAft>
              <a:defRPr sz="1100">
                <a:solidFill>
                  <a:srgbClr val="CBD5E1"/>
                </a:solidFill>
                <a:latin typeface="Arial"/>
              </a:defRPr>
            </a:pPr>
            <a:r>
              <a:t>• • Google Earth Engine API (Copernicus Sentinel MNDWI)</a:t>
            </a:r>
          </a:p>
          <a:p>
            <a:pPr>
              <a:spcAft>
                <a:spcPts val="400"/>
              </a:spcAft>
              <a:defRPr sz="1100">
                <a:solidFill>
                  <a:srgbClr val="CBD5E1"/>
                </a:solidFill>
                <a:latin typeface="Arial"/>
              </a:defRPr>
            </a:pPr>
            <a:r>
              <a:t>• • NASA SMAP root-zone soil moisture</a:t>
            </a:r>
          </a:p>
          <a:p>
            <a:pPr>
              <a:spcAft>
                <a:spcPts val="400"/>
              </a:spcAft>
              <a:defRPr sz="1100">
                <a:solidFill>
                  <a:srgbClr val="CBD5E1"/>
                </a:solidFill>
                <a:latin typeface="Arial"/>
              </a:defRPr>
            </a:pPr>
            <a:r>
              <a:t>• • 14-day depletion forecasting algorithm</a:t>
            </a:r>
          </a:p>
          <a:p>
            <a:pPr>
              <a:spcAft>
                <a:spcPts val="400"/>
              </a:spcAft>
              <a:defRPr sz="1100">
                <a:solidFill>
                  <a:srgbClr val="CBD5E1"/>
                </a:solidFill>
                <a:latin typeface="Arial"/>
              </a:defRPr>
            </a:pPr>
            <a:r>
              <a:t>• • Haversine distance verification engine</a:t>
            </a:r>
          </a:p>
        </p:txBody>
      </p:sp>
      <p:sp>
        <p:nvSpPr>
          <p:cNvPr id="12" name="Rounded Rectangle 11"/>
          <p:cNvSpPr/>
          <p:nvPr/>
        </p:nvSpPr>
        <p:spPr>
          <a:xfrm>
            <a:off x="8988552" y="2011680"/>
            <a:ext cx="2450592" cy="4297680"/>
          </a:xfrm>
          <a:prstGeom prst="roundRect">
            <a:avLst/>
          </a:prstGeom>
          <a:solidFill>
            <a:srgbClr val="0B1426"/>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71432" y="2194560"/>
            <a:ext cx="2084832" cy="3931920"/>
          </a:xfrm>
          <a:prstGeom prst="rect">
            <a:avLst/>
          </a:prstGeom>
          <a:noFill/>
        </p:spPr>
        <p:txBody>
          <a:bodyPr wrap="square" lIns="0" tIns="0" rIns="0" bIns="0">
            <a:spAutoFit/>
          </a:bodyPr>
          <a:lstStyle/>
          <a:p>
            <a:pPr>
              <a:spcAft>
                <a:spcPts val="800"/>
              </a:spcAft>
              <a:defRPr sz="1500" b="1">
                <a:solidFill>
                  <a:srgbClr val="00E5FF"/>
                </a:solidFill>
                <a:latin typeface="Arial"/>
              </a:defRPr>
            </a:pPr>
            <a:r>
              <a:t>Data &amp; Cloud</a:t>
            </a:r>
          </a:p>
          <a:p>
            <a:pPr>
              <a:spcAft>
                <a:spcPts val="400"/>
              </a:spcAft>
              <a:defRPr sz="1100">
                <a:solidFill>
                  <a:srgbClr val="CBD5E1"/>
                </a:solidFill>
                <a:latin typeface="Arial"/>
              </a:defRPr>
            </a:pPr>
            <a:r>
              <a:t>• • Supabase (PostgreSQL with Row Level Security - RLS)</a:t>
            </a:r>
          </a:p>
          <a:p>
            <a:pPr>
              <a:spcAft>
                <a:spcPts val="400"/>
              </a:spcAft>
              <a:defRPr sz="1100">
                <a:solidFill>
                  <a:srgbClr val="CBD5E1"/>
                </a:solidFill>
                <a:latin typeface="Arial"/>
              </a:defRPr>
            </a:pPr>
            <a:r>
              <a:t>• • Render cloud hosting (FastAPI backend)</a:t>
            </a:r>
          </a:p>
          <a:p>
            <a:pPr>
              <a:spcAft>
                <a:spcPts val="400"/>
              </a:spcAft>
              <a:defRPr sz="1100">
                <a:solidFill>
                  <a:srgbClr val="CBD5E1"/>
                </a:solidFill>
                <a:latin typeface="Arial"/>
              </a:defRPr>
            </a:pPr>
            <a:r>
              <a:t>• • Vercel Edge CDN (Frontend PWA)</a:t>
            </a:r>
          </a:p>
          <a:p>
            <a:pPr>
              <a:spcAft>
                <a:spcPts val="400"/>
              </a:spcAft>
              <a:defRPr sz="1100">
                <a:solidFill>
                  <a:srgbClr val="CBD5E1"/>
                </a:solidFill>
                <a:latin typeface="Arial"/>
              </a:defRPr>
            </a:pPr>
            <a:r>
              <a:t>• • GitHub Actions keep-alive automated cron</a:t>
            </a:r>
          </a:p>
          <a:p>
            <a:pPr>
              <a:spcAft>
                <a:spcPts val="400"/>
              </a:spcAft>
              <a:defRPr sz="1100">
                <a:solidFill>
                  <a:srgbClr val="CBD5E1"/>
                </a:solidFill>
                <a:latin typeface="Arial"/>
              </a:defRPr>
            </a:pPr>
            <a:r>
              <a:t>• • Strict Content-Security-Policy (CSP)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00E5FF"/>
                </a:solidFill>
                <a:latin typeface="Arial"/>
              </a:defRPr>
            </a:pPr>
            <a:r>
              <a:t>📊 FEASIBILITY &amp; POTENTIAL IMPACT</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600" b="1">
                <a:solidFill>
                  <a:srgbClr val="FFFFFF"/>
                </a:solidFill>
                <a:latin typeface="Arial"/>
              </a:defRPr>
            </a:pPr>
            <a:r>
              <a:t>Zero-Capex Economics &amp; Quantitative Transformation</a:t>
            </a:r>
          </a:p>
        </p:txBody>
      </p:sp>
      <p:sp>
        <p:nvSpPr>
          <p:cNvPr id="5" name="TextBox 4"/>
          <p:cNvSpPr txBox="1"/>
          <p:nvPr/>
        </p:nvSpPr>
        <p:spPr>
          <a:xfrm>
            <a:off x="731520" y="1280160"/>
            <a:ext cx="10698480" cy="502920"/>
          </a:xfrm>
          <a:prstGeom prst="rect">
            <a:avLst/>
          </a:prstGeom>
          <a:noFill/>
        </p:spPr>
        <p:txBody>
          <a:bodyPr wrap="square" lIns="0" tIns="0" rIns="0" bIns="0">
            <a:spAutoFit/>
          </a:bodyPr>
          <a:lstStyle/>
          <a:p>
            <a:pPr>
              <a:defRPr sz="1300">
                <a:solidFill>
                  <a:srgbClr val="94A3B8"/>
                </a:solidFill>
                <a:latin typeface="Arial"/>
              </a:defRPr>
            </a:pPr>
            <a:r>
              <a:t>Rapidly deployable across Maharashtra without new hardware or expensive proprietary equipment.</a:t>
            </a:r>
          </a:p>
        </p:txBody>
      </p:sp>
      <p:sp>
        <p:nvSpPr>
          <p:cNvPr id="6" name="Rounded Rectangle 5"/>
          <p:cNvSpPr/>
          <p:nvPr/>
        </p:nvSpPr>
        <p:spPr>
          <a:xfrm>
            <a:off x="731520" y="2011680"/>
            <a:ext cx="3328416" cy="2103120"/>
          </a:xfrm>
          <a:prstGeom prst="roundRect">
            <a:avLst/>
          </a:prstGeom>
          <a:solidFill>
            <a:srgbClr val="0B142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94560"/>
            <a:ext cx="2962656" cy="1737360"/>
          </a:xfrm>
          <a:prstGeom prst="rect">
            <a:avLst/>
          </a:prstGeom>
          <a:noFill/>
        </p:spPr>
        <p:txBody>
          <a:bodyPr wrap="square" lIns="0" tIns="0" rIns="0" bIns="0">
            <a:spAutoFit/>
          </a:bodyPr>
          <a:lstStyle/>
          <a:p>
            <a:pPr>
              <a:defRPr sz="2800" b="1">
                <a:solidFill>
                  <a:srgbClr val="10B981"/>
                </a:solidFill>
                <a:latin typeface="Arial"/>
              </a:defRPr>
            </a:pPr>
            <a:r>
              <a:t>100%</a:t>
            </a:r>
          </a:p>
          <a:p>
            <a:pPr>
              <a:spcAft>
                <a:spcPts val="800"/>
              </a:spcAft>
              <a:defRPr sz="1200" b="1">
                <a:solidFill>
                  <a:srgbClr val="FFFFFF"/>
                </a:solidFill>
                <a:latin typeface="Arial"/>
              </a:defRPr>
            </a:pPr>
            <a:r>
              <a:t>Leakage Prevented</a:t>
            </a:r>
          </a:p>
          <a:p>
            <a:pPr>
              <a:spcAft>
                <a:spcPts val="800"/>
              </a:spcAft>
              <a:defRPr sz="1500" b="1">
                <a:solidFill>
                  <a:srgbClr val="FFFFFF"/>
                </a:solidFill>
                <a:latin typeface="Arial"/>
              </a:defRPr>
            </a:pPr>
            <a:r>
              <a:t>Diversion Elimination</a:t>
            </a:r>
          </a:p>
          <a:p>
            <a:pPr>
              <a:spcAft>
                <a:spcPts val="400"/>
              </a:spcAft>
              <a:defRPr sz="1100">
                <a:solidFill>
                  <a:srgbClr val="CBD5E1"/>
                </a:solidFill>
                <a:latin typeface="Arial"/>
              </a:defRPr>
            </a:pPr>
            <a:r>
              <a:t>• Zero bills clear without cryptographic proof.</a:t>
            </a:r>
          </a:p>
          <a:p>
            <a:pPr>
              <a:spcAft>
                <a:spcPts val="400"/>
              </a:spcAft>
              <a:defRPr sz="1100">
                <a:solidFill>
                  <a:srgbClr val="CBD5E1"/>
                </a:solidFill>
                <a:latin typeface="Arial"/>
              </a:defRPr>
            </a:pPr>
            <a:r>
              <a:t>• Unverified diversion becomes financially impossible.</a:t>
            </a:r>
          </a:p>
        </p:txBody>
      </p:sp>
      <p:sp>
        <p:nvSpPr>
          <p:cNvPr id="8" name="Rounded Rectangle 7"/>
          <p:cNvSpPr/>
          <p:nvPr/>
        </p:nvSpPr>
        <p:spPr>
          <a:xfrm>
            <a:off x="4425696" y="2011680"/>
            <a:ext cx="3328416" cy="2103120"/>
          </a:xfrm>
          <a:prstGeom prst="roundRect">
            <a:avLst/>
          </a:prstGeom>
          <a:solidFill>
            <a:srgbClr val="0B1426"/>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8576" y="2194560"/>
            <a:ext cx="2962656" cy="1737360"/>
          </a:xfrm>
          <a:prstGeom prst="rect">
            <a:avLst/>
          </a:prstGeom>
          <a:noFill/>
        </p:spPr>
        <p:txBody>
          <a:bodyPr wrap="square" lIns="0" tIns="0" rIns="0" bIns="0">
            <a:spAutoFit/>
          </a:bodyPr>
          <a:lstStyle/>
          <a:p>
            <a:pPr>
              <a:defRPr sz="2800" b="1">
                <a:solidFill>
                  <a:srgbClr val="00E5FF"/>
                </a:solidFill>
                <a:latin typeface="Arial"/>
              </a:defRPr>
            </a:pPr>
            <a:r>
              <a:t>14 Days</a:t>
            </a:r>
          </a:p>
          <a:p>
            <a:pPr>
              <a:spcAft>
                <a:spcPts val="800"/>
              </a:spcAft>
              <a:defRPr sz="1200" b="1">
                <a:solidFill>
                  <a:srgbClr val="FFFFFF"/>
                </a:solidFill>
                <a:latin typeface="Arial"/>
              </a:defRPr>
            </a:pPr>
            <a:r>
              <a:t>Advance Warning</a:t>
            </a:r>
          </a:p>
          <a:p>
            <a:pPr>
              <a:spcAft>
                <a:spcPts val="800"/>
              </a:spcAft>
              <a:defRPr sz="1500" b="1">
                <a:solidFill>
                  <a:srgbClr val="FFFFFF"/>
                </a:solidFill>
                <a:latin typeface="Arial"/>
              </a:defRPr>
            </a:pPr>
            <a:r>
              <a:t>Early Warning Buffer</a:t>
            </a:r>
          </a:p>
          <a:p>
            <a:pPr>
              <a:spcAft>
                <a:spcPts val="400"/>
              </a:spcAft>
              <a:defRPr sz="1100">
                <a:solidFill>
                  <a:srgbClr val="CBD5E1"/>
                </a:solidFill>
                <a:latin typeface="Arial"/>
              </a:defRPr>
            </a:pPr>
            <a:r>
              <a:t>• Satellite depletion modeling provides 2-week warning.</a:t>
            </a:r>
          </a:p>
          <a:p>
            <a:pPr>
              <a:spcAft>
                <a:spcPts val="400"/>
              </a:spcAft>
              <a:defRPr sz="1100">
                <a:solidFill>
                  <a:srgbClr val="CBD5E1"/>
                </a:solidFill>
                <a:latin typeface="Arial"/>
              </a:defRPr>
            </a:pPr>
            <a:r>
              <a:t>• Ends panic-driven emergency water shortages.</a:t>
            </a:r>
          </a:p>
        </p:txBody>
      </p:sp>
      <p:sp>
        <p:nvSpPr>
          <p:cNvPr id="10" name="Rounded Rectangle 9"/>
          <p:cNvSpPr/>
          <p:nvPr/>
        </p:nvSpPr>
        <p:spPr>
          <a:xfrm>
            <a:off x="8119872" y="2011680"/>
            <a:ext cx="3328416" cy="2103120"/>
          </a:xfrm>
          <a:prstGeom prst="roundRect">
            <a:avLst/>
          </a:prstGeom>
          <a:solidFill>
            <a:srgbClr val="0B142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2752" y="2194560"/>
            <a:ext cx="2962656" cy="1737360"/>
          </a:xfrm>
          <a:prstGeom prst="rect">
            <a:avLst/>
          </a:prstGeom>
          <a:noFill/>
        </p:spPr>
        <p:txBody>
          <a:bodyPr wrap="square" lIns="0" tIns="0" rIns="0" bIns="0">
            <a:spAutoFit/>
          </a:bodyPr>
          <a:lstStyle/>
          <a:p>
            <a:pPr>
              <a:defRPr sz="2800" b="1">
                <a:solidFill>
                  <a:srgbClr val="F59E0B"/>
                </a:solidFill>
                <a:latin typeface="Arial"/>
              </a:defRPr>
            </a:pPr>
            <a:r>
              <a:t>₹2.11 Cr</a:t>
            </a:r>
          </a:p>
          <a:p>
            <a:pPr>
              <a:spcAft>
                <a:spcPts val="800"/>
              </a:spcAft>
              <a:defRPr sz="1200" b="1">
                <a:solidFill>
                  <a:srgbClr val="FFFFFF"/>
                </a:solidFill>
                <a:latin typeface="Arial"/>
              </a:defRPr>
            </a:pPr>
            <a:r>
              <a:t>Saved Every Season</a:t>
            </a:r>
          </a:p>
          <a:p>
            <a:pPr>
              <a:spcAft>
                <a:spcPts val="800"/>
              </a:spcAft>
              <a:defRPr sz="1500" b="1">
                <a:solidFill>
                  <a:srgbClr val="FFFFFF"/>
                </a:solidFill>
                <a:latin typeface="Arial"/>
              </a:defRPr>
            </a:pPr>
            <a:r>
              <a:t>Taxpayer Savings</a:t>
            </a:r>
          </a:p>
          <a:p>
            <a:pPr>
              <a:spcAft>
                <a:spcPts val="400"/>
              </a:spcAft>
              <a:defRPr sz="1100">
                <a:solidFill>
                  <a:srgbClr val="CBD5E1"/>
                </a:solidFill>
                <a:latin typeface="Arial"/>
              </a:defRPr>
            </a:pPr>
            <a:r>
              <a:t>• Eliminated black-market leakage &amp; 28.4% fuel savings.</a:t>
            </a:r>
          </a:p>
          <a:p>
            <a:pPr>
              <a:spcAft>
                <a:spcPts val="400"/>
              </a:spcAft>
              <a:defRPr sz="1100">
                <a:solidFill>
                  <a:srgbClr val="CBD5E1"/>
                </a:solidFill>
                <a:latin typeface="Arial"/>
              </a:defRPr>
            </a:pPr>
            <a:r>
              <a:t>• Calculated across standard 100-tanker summer fleet.</a:t>
            </a:r>
          </a:p>
        </p:txBody>
      </p:sp>
      <p:sp>
        <p:nvSpPr>
          <p:cNvPr id="12" name="Rounded Rectangle 11"/>
          <p:cNvSpPr/>
          <p:nvPr/>
        </p:nvSpPr>
        <p:spPr>
          <a:xfrm>
            <a:off x="731520" y="4343400"/>
            <a:ext cx="5175504" cy="2057400"/>
          </a:xfrm>
          <a:prstGeom prst="roundRect">
            <a:avLst/>
          </a:prstGeom>
          <a:solidFill>
            <a:srgbClr val="0B1426"/>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526280"/>
            <a:ext cx="4809744" cy="1691640"/>
          </a:xfrm>
          <a:prstGeom prst="rect">
            <a:avLst/>
          </a:prstGeom>
          <a:noFill/>
        </p:spPr>
        <p:txBody>
          <a:bodyPr wrap="square" lIns="0" tIns="0" rIns="0" bIns="0">
            <a:spAutoFit/>
          </a:bodyPr>
          <a:lstStyle/>
          <a:p>
            <a:pPr>
              <a:spcAft>
                <a:spcPts val="800"/>
              </a:spcAft>
              <a:defRPr sz="1500" b="1">
                <a:solidFill>
                  <a:srgbClr val="00E5FF"/>
                </a:solidFill>
                <a:latin typeface="Arial"/>
              </a:defRPr>
            </a:pPr>
            <a:r>
              <a:t>1. Zero-Capex Technical Feasibility:</a:t>
            </a:r>
          </a:p>
          <a:p>
            <a:pPr>
              <a:spcAft>
                <a:spcPts val="400"/>
              </a:spcAft>
              <a:defRPr sz="1100">
                <a:solidFill>
                  <a:srgbClr val="CBD5E1"/>
                </a:solidFill>
                <a:latin typeface="Arial"/>
              </a:defRPr>
            </a:pPr>
            <a:r>
              <a:t>• • Zero New Hardware: Runs on existing commodity Android smartphones.</a:t>
            </a:r>
          </a:p>
          <a:p>
            <a:pPr>
              <a:spcAft>
                <a:spcPts val="400"/>
              </a:spcAft>
              <a:defRPr sz="1100">
                <a:solidFill>
                  <a:srgbClr val="CBD5E1"/>
                </a:solidFill>
                <a:latin typeface="Arial"/>
              </a:defRPr>
            </a:pPr>
            <a:r>
              <a:t>• • Zero App Store Barrier: Instant browser PWA access via WebRTC.</a:t>
            </a:r>
          </a:p>
          <a:p>
            <a:pPr>
              <a:spcAft>
                <a:spcPts val="400"/>
              </a:spcAft>
              <a:defRPr sz="1100">
                <a:solidFill>
                  <a:srgbClr val="CBD5E1"/>
                </a:solidFill>
                <a:latin typeface="Arial"/>
              </a:defRPr>
            </a:pPr>
            <a:r>
              <a:t>• • Rural Offline Resilience: Queues delivery receipts offline in IndexedDB.</a:t>
            </a:r>
          </a:p>
          <a:p>
            <a:pPr>
              <a:spcAft>
                <a:spcPts val="400"/>
              </a:spcAft>
              <a:defRPr sz="1100">
                <a:solidFill>
                  <a:srgbClr val="CBD5E1"/>
                </a:solidFill>
                <a:latin typeface="Arial"/>
              </a:defRPr>
            </a:pPr>
            <a:r>
              <a:t>• • Open Standards: Built with battle-tested open-source libraries.</a:t>
            </a:r>
          </a:p>
        </p:txBody>
      </p:sp>
      <p:sp>
        <p:nvSpPr>
          <p:cNvPr id="14" name="Rounded Rectangle 13"/>
          <p:cNvSpPr/>
          <p:nvPr/>
        </p:nvSpPr>
        <p:spPr>
          <a:xfrm>
            <a:off x="6272784" y="4343400"/>
            <a:ext cx="5175504" cy="2057400"/>
          </a:xfrm>
          <a:prstGeom prst="roundRect">
            <a:avLst/>
          </a:prstGeom>
          <a:solidFill>
            <a:srgbClr val="0B142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4526280"/>
            <a:ext cx="4809744" cy="1691640"/>
          </a:xfrm>
          <a:prstGeom prst="rect">
            <a:avLst/>
          </a:prstGeom>
          <a:noFill/>
        </p:spPr>
        <p:txBody>
          <a:bodyPr wrap="square" lIns="0" tIns="0" rIns="0" bIns="0">
            <a:spAutoFit/>
          </a:bodyPr>
          <a:lstStyle/>
          <a:p>
            <a:pPr>
              <a:spcAft>
                <a:spcPts val="800"/>
              </a:spcAft>
              <a:defRPr sz="1500" b="1">
                <a:solidFill>
                  <a:srgbClr val="F59E0B"/>
                </a:solidFill>
                <a:latin typeface="Arial"/>
              </a:defRPr>
            </a:pPr>
            <a:r>
              <a:t>2. Institutional &amp; Legal Feasibility:</a:t>
            </a:r>
          </a:p>
          <a:p>
            <a:pPr>
              <a:spcAft>
                <a:spcPts val="400"/>
              </a:spcAft>
              <a:defRPr sz="1100">
                <a:solidFill>
                  <a:srgbClr val="CBD5E1"/>
                </a:solidFill>
                <a:latin typeface="Arial"/>
              </a:defRPr>
            </a:pPr>
            <a:r>
              <a:t>• • Self-Financing: Pays for itself multiple times over by stopping leakage.</a:t>
            </a:r>
          </a:p>
          <a:p>
            <a:pPr>
              <a:spcAft>
                <a:spcPts val="400"/>
              </a:spcAft>
              <a:defRPr sz="1100">
                <a:solidFill>
                  <a:srgbClr val="CBD5E1"/>
                </a:solidFill>
                <a:latin typeface="Arial"/>
              </a:defRPr>
            </a:pPr>
            <a:r>
              <a:t>• • Administrative Alignment: Maps directly to Collector -&gt; Tehsildar -&gt; Gram Panchayat.</a:t>
            </a:r>
          </a:p>
          <a:p>
            <a:pPr>
              <a:spcAft>
                <a:spcPts val="400"/>
              </a:spcAft>
              <a:defRPr sz="1100">
                <a:solidFill>
                  <a:srgbClr val="CBD5E1"/>
                </a:solidFill>
                <a:latin typeface="Arial"/>
              </a:defRPr>
            </a:pPr>
            <a:r>
              <a:t>• • Section 65B Admissibility: Cryptographic logs fully admissible in Indian courts.</a:t>
            </a:r>
          </a:p>
          <a:p>
            <a:pPr>
              <a:spcAft>
                <a:spcPts val="400"/>
              </a:spcAft>
              <a:defRPr sz="1100">
                <a:solidFill>
                  <a:srgbClr val="CBD5E1"/>
                </a:solidFill>
                <a:latin typeface="Arial"/>
              </a:defRPr>
            </a:pPr>
            <a:r>
              <a:t>• • Immediate Turnaround: Replaces 60-day paper invoice processing with real-time audit.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0D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lIns="0" tIns="0" rIns="0" bIns="0">
            <a:spAutoFit/>
          </a:bodyPr>
          <a:lstStyle/>
          <a:p>
            <a:pPr>
              <a:defRPr sz="1100" b="1">
                <a:solidFill>
                  <a:srgbClr val="00E5FF"/>
                </a:solidFill>
                <a:latin typeface="Arial"/>
              </a:defRPr>
            </a:pPr>
            <a:r>
              <a:t>🚀 SCALING &amp; NATIONAL VISION</a:t>
            </a:r>
          </a:p>
        </p:txBody>
      </p:sp>
      <p:sp>
        <p:nvSpPr>
          <p:cNvPr id="4" name="TextBox 3"/>
          <p:cNvSpPr txBox="1"/>
          <p:nvPr/>
        </p:nvSpPr>
        <p:spPr>
          <a:xfrm>
            <a:off x="731520" y="685800"/>
            <a:ext cx="10698480" cy="594360"/>
          </a:xfrm>
          <a:prstGeom prst="rect">
            <a:avLst/>
          </a:prstGeom>
          <a:noFill/>
        </p:spPr>
        <p:txBody>
          <a:bodyPr wrap="square" lIns="0" tIns="0" rIns="0" bIns="0">
            <a:spAutoFit/>
          </a:bodyPr>
          <a:lstStyle/>
          <a:p>
            <a:pPr>
              <a:defRPr sz="2600" b="1">
                <a:solidFill>
                  <a:srgbClr val="FFFFFF"/>
                </a:solidFill>
                <a:latin typeface="Arial"/>
              </a:defRPr>
            </a:pPr>
            <a:r>
              <a:t>The Sovereign Roadmap: From Sinnar to National Scale</a:t>
            </a:r>
          </a:p>
        </p:txBody>
      </p:sp>
      <p:sp>
        <p:nvSpPr>
          <p:cNvPr id="5" name="TextBox 4"/>
          <p:cNvSpPr txBox="1"/>
          <p:nvPr/>
        </p:nvSpPr>
        <p:spPr>
          <a:xfrm>
            <a:off x="731520" y="1280160"/>
            <a:ext cx="10698480" cy="502920"/>
          </a:xfrm>
          <a:prstGeom prst="rect">
            <a:avLst/>
          </a:prstGeom>
          <a:noFill/>
        </p:spPr>
        <p:txBody>
          <a:bodyPr wrap="square" lIns="0" tIns="0" rIns="0" bIns="0">
            <a:spAutoFit/>
          </a:bodyPr>
          <a:lstStyle/>
          <a:p>
            <a:pPr>
              <a:defRPr sz="1300">
                <a:solidFill>
                  <a:srgbClr val="94A3B8"/>
                </a:solidFill>
                <a:latin typeface="Arial"/>
              </a:defRPr>
            </a:pPr>
            <a:r>
              <a:t>A replicable blueprint for climate-resilient water resource governance across India.</a:t>
            </a:r>
          </a:p>
        </p:txBody>
      </p:sp>
      <p:sp>
        <p:nvSpPr>
          <p:cNvPr id="6" name="Rounded Rectangle 5"/>
          <p:cNvSpPr/>
          <p:nvPr/>
        </p:nvSpPr>
        <p:spPr>
          <a:xfrm>
            <a:off x="731520" y="2011680"/>
            <a:ext cx="3328416" cy="3566160"/>
          </a:xfrm>
          <a:prstGeom prst="roundRect">
            <a:avLst/>
          </a:prstGeom>
          <a:solidFill>
            <a:srgbClr val="0B1426"/>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194560"/>
            <a:ext cx="2962656" cy="3200400"/>
          </a:xfrm>
          <a:prstGeom prst="rect">
            <a:avLst/>
          </a:prstGeom>
          <a:noFill/>
        </p:spPr>
        <p:txBody>
          <a:bodyPr wrap="square" lIns="0" tIns="0" rIns="0" bIns="0">
            <a:spAutoFit/>
          </a:bodyPr>
          <a:lstStyle/>
          <a:p>
            <a:pPr>
              <a:spcAft>
                <a:spcPts val="800"/>
              </a:spcAft>
              <a:defRPr sz="1500" b="1">
                <a:solidFill>
                  <a:srgbClr val="00E5FF"/>
                </a:solidFill>
                <a:latin typeface="Arial"/>
              </a:defRPr>
            </a:pPr>
            <a:r>
              <a:t>Phase 1: Sinnar Pilot (Q1 2026)</a:t>
            </a:r>
          </a:p>
          <a:p>
            <a:pPr>
              <a:spcAft>
                <a:spcPts val="400"/>
              </a:spcAft>
              <a:defRPr sz="1100">
                <a:solidFill>
                  <a:srgbClr val="CBD5E1"/>
                </a:solidFill>
                <a:latin typeface="Arial"/>
              </a:defRPr>
            </a:pPr>
            <a:r>
              <a:t>• • Field pilot with Sinnar Disaster Authority.</a:t>
            </a:r>
          </a:p>
          <a:p>
            <a:pPr>
              <a:spcAft>
                <a:spcPts val="400"/>
              </a:spcAft>
              <a:defRPr sz="1100">
                <a:solidFill>
                  <a:srgbClr val="CBD5E1"/>
                </a:solidFill>
                <a:latin typeface="Arial"/>
              </a:defRPr>
            </a:pPr>
            <a:r>
              <a:t>• • 28 Gram Panchayats &amp; 15 municipal tankers.</a:t>
            </a:r>
          </a:p>
          <a:p>
            <a:pPr>
              <a:spcAft>
                <a:spcPts val="400"/>
              </a:spcAft>
              <a:defRPr sz="1100">
                <a:solidFill>
                  <a:srgbClr val="CBD5E1"/>
                </a:solidFill>
                <a:latin typeface="Arial"/>
              </a:defRPr>
            </a:pPr>
            <a:r>
              <a:t>• • Live calibration of NASA SMAP soil curves.</a:t>
            </a:r>
          </a:p>
          <a:p>
            <a:pPr>
              <a:spcAft>
                <a:spcPts val="400"/>
              </a:spcAft>
              <a:defRPr sz="1100">
                <a:solidFill>
                  <a:srgbClr val="CBD5E1"/>
                </a:solidFill>
                <a:latin typeface="Arial"/>
              </a:defRPr>
            </a:pPr>
            <a:r>
              <a:t>• • Driver and Sarpanch field usability verification.</a:t>
            </a:r>
          </a:p>
        </p:txBody>
      </p:sp>
      <p:sp>
        <p:nvSpPr>
          <p:cNvPr id="8" name="Rounded Rectangle 7"/>
          <p:cNvSpPr/>
          <p:nvPr/>
        </p:nvSpPr>
        <p:spPr>
          <a:xfrm>
            <a:off x="4425696" y="2011680"/>
            <a:ext cx="3328416" cy="3566160"/>
          </a:xfrm>
          <a:prstGeom prst="roundRect">
            <a:avLst/>
          </a:prstGeom>
          <a:solidFill>
            <a:srgbClr val="0B1426"/>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08576" y="2194560"/>
            <a:ext cx="2962656" cy="3200400"/>
          </a:xfrm>
          <a:prstGeom prst="rect">
            <a:avLst/>
          </a:prstGeom>
          <a:noFill/>
        </p:spPr>
        <p:txBody>
          <a:bodyPr wrap="square" lIns="0" tIns="0" rIns="0" bIns="0">
            <a:spAutoFit/>
          </a:bodyPr>
          <a:lstStyle/>
          <a:p>
            <a:pPr>
              <a:spcAft>
                <a:spcPts val="800"/>
              </a:spcAft>
              <a:defRPr sz="1500" b="1">
                <a:solidFill>
                  <a:srgbClr val="10B981"/>
                </a:solidFill>
                <a:latin typeface="Arial"/>
              </a:defRPr>
            </a:pPr>
            <a:r>
              <a:t>Phase 2: District Rollout (Q3 2026)</a:t>
            </a:r>
          </a:p>
          <a:p>
            <a:pPr>
              <a:spcAft>
                <a:spcPts val="400"/>
              </a:spcAft>
              <a:defRPr sz="1100">
                <a:solidFill>
                  <a:srgbClr val="CBD5E1"/>
                </a:solidFill>
                <a:latin typeface="Arial"/>
              </a:defRPr>
            </a:pPr>
            <a:r>
              <a:t>• • Scaling across Ahilyanagar &amp; Nashik districts.</a:t>
            </a:r>
          </a:p>
          <a:p>
            <a:pPr>
              <a:spcAft>
                <a:spcPts val="400"/>
              </a:spcAft>
              <a:defRPr sz="1100">
                <a:solidFill>
                  <a:srgbClr val="CBD5E1"/>
                </a:solidFill>
                <a:latin typeface="Arial"/>
              </a:defRPr>
            </a:pPr>
            <a:r>
              <a:t>• • 350+ relief tankers and 450+ village cisterns.</a:t>
            </a:r>
          </a:p>
          <a:p>
            <a:pPr>
              <a:spcAft>
                <a:spcPts val="400"/>
              </a:spcAft>
              <a:defRPr sz="1100">
                <a:solidFill>
                  <a:srgbClr val="CBD5E1"/>
                </a:solidFill>
                <a:latin typeface="Arial"/>
              </a:defRPr>
            </a:pPr>
            <a:r>
              <a:t>• • Direct integration into Maharashtra State Treasury e-Billing.</a:t>
            </a:r>
          </a:p>
          <a:p>
            <a:pPr>
              <a:spcAft>
                <a:spcPts val="400"/>
              </a:spcAft>
              <a:defRPr sz="1100">
                <a:solidFill>
                  <a:srgbClr val="CBD5E1"/>
                </a:solidFill>
                <a:latin typeface="Arial"/>
              </a:defRPr>
            </a:pPr>
            <a:r>
              <a:t>• • Citizen mobile notification broadcast.</a:t>
            </a:r>
          </a:p>
        </p:txBody>
      </p:sp>
      <p:sp>
        <p:nvSpPr>
          <p:cNvPr id="10" name="Rounded Rectangle 9"/>
          <p:cNvSpPr/>
          <p:nvPr/>
        </p:nvSpPr>
        <p:spPr>
          <a:xfrm>
            <a:off x="8119872" y="2011680"/>
            <a:ext cx="3328416" cy="3566160"/>
          </a:xfrm>
          <a:prstGeom prst="roundRect">
            <a:avLst/>
          </a:prstGeom>
          <a:solidFill>
            <a:srgbClr val="0B1426"/>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02752" y="2194560"/>
            <a:ext cx="2962656" cy="3200400"/>
          </a:xfrm>
          <a:prstGeom prst="rect">
            <a:avLst/>
          </a:prstGeom>
          <a:noFill/>
        </p:spPr>
        <p:txBody>
          <a:bodyPr wrap="square" lIns="0" tIns="0" rIns="0" bIns="0">
            <a:spAutoFit/>
          </a:bodyPr>
          <a:lstStyle/>
          <a:p>
            <a:pPr>
              <a:spcAft>
                <a:spcPts val="800"/>
              </a:spcAft>
              <a:defRPr sz="1500" b="1">
                <a:solidFill>
                  <a:srgbClr val="F59E0B"/>
                </a:solidFill>
                <a:latin typeface="Arial"/>
              </a:defRPr>
            </a:pPr>
            <a:r>
              <a:t>Phase 3: National Scale (2027)</a:t>
            </a:r>
          </a:p>
          <a:p>
            <a:pPr>
              <a:spcAft>
                <a:spcPts val="400"/>
              </a:spcAft>
              <a:defRPr sz="1100">
                <a:solidFill>
                  <a:srgbClr val="CBD5E1"/>
                </a:solidFill>
                <a:latin typeface="Arial"/>
              </a:defRPr>
            </a:pPr>
            <a:r>
              <a:t>• • National Disaster Management Authority (NDMA) integration.</a:t>
            </a:r>
          </a:p>
          <a:p>
            <a:pPr>
              <a:spcAft>
                <a:spcPts val="400"/>
              </a:spcAft>
              <a:defRPr sz="1100">
                <a:solidFill>
                  <a:srgbClr val="CBD5E1"/>
                </a:solidFill>
                <a:latin typeface="Arial"/>
              </a:defRPr>
            </a:pPr>
            <a:r>
              <a:t>• • Interoperability with Jal Jeevan Mission API.</a:t>
            </a:r>
          </a:p>
          <a:p>
            <a:pPr>
              <a:spcAft>
                <a:spcPts val="400"/>
              </a:spcAft>
              <a:defRPr sz="1100">
                <a:solidFill>
                  <a:srgbClr val="CBD5E1"/>
                </a:solidFill>
                <a:latin typeface="Arial"/>
              </a:defRPr>
            </a:pPr>
            <a:r>
              <a:t>• • Deployment across 8 drought-prone Indian states.</a:t>
            </a:r>
          </a:p>
          <a:p>
            <a:pPr>
              <a:spcAft>
                <a:spcPts val="400"/>
              </a:spcAft>
              <a:defRPr sz="1100">
                <a:solidFill>
                  <a:srgbClr val="CBD5E1"/>
                </a:solidFill>
                <a:latin typeface="Arial"/>
              </a:defRPr>
            </a:pPr>
            <a:r>
              <a:t>• • Open Sovereign Digital Public Infrastructure (DPI).</a:t>
            </a:r>
          </a:p>
        </p:txBody>
      </p:sp>
      <p:sp>
        <p:nvSpPr>
          <p:cNvPr id="12" name="Rounded Rectangle 11"/>
          <p:cNvSpPr/>
          <p:nvPr/>
        </p:nvSpPr>
        <p:spPr>
          <a:xfrm>
            <a:off x="731520" y="5715000"/>
            <a:ext cx="10716768" cy="777240"/>
          </a:xfrm>
          <a:prstGeom prst="roundRect">
            <a:avLst/>
          </a:prstGeom>
          <a:solidFill>
            <a:srgbClr val="0B1426"/>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897880"/>
            <a:ext cx="10351008" cy="411479"/>
          </a:xfrm>
          <a:prstGeom prst="rect">
            <a:avLst/>
          </a:prstGeom>
          <a:noFill/>
        </p:spPr>
        <p:txBody>
          <a:bodyPr wrap="square" lIns="0" tIns="0" rIns="0" bIns="0">
            <a:spAutoFit/>
          </a:bodyPr>
          <a:lstStyle/>
          <a:p>
            <a:pPr>
              <a:spcAft>
                <a:spcPts val="400"/>
              </a:spcAft>
              <a:defRPr sz="1100">
                <a:solidFill>
                  <a:srgbClr val="CBD5E1"/>
                </a:solidFill>
                <a:latin typeface="Arial"/>
              </a:defRPr>
            </a:pPr>
            <a:r>
              <a:t>"Guaranteeing that every liter of water allocated by the state reaches the community who needs it—with zero diversion, zero leakage, and absolute mathematical accountability."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